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B68"/>
          </a:solidFill>
          <a:ln w="12700">
            <a:solidFill>
              <a:srgbClr val="1F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9494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B68"/>
                </a:solidFill>
                <a:latin typeface="Microsoft YaHei"/>
              </a:rPr>
              <a:t>中期答辩汇报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32B"/>
                </a:solidFill>
                <a:latin typeface="Microsoft YaHei"/>
              </a:rPr>
              <a:t>基于大语言模型的智能化毕业设计选题双向选择系统设计与实现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766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66570"/>
                </a:solidFill>
                <a:latin typeface="Microsoft YaHei"/>
              </a:rPr>
              <a:t>围绕选题匹配、AI 辅助与过程管理的系统原型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3794760"/>
            <a:ext cx="1572768" cy="502920"/>
          </a:xfrm>
          <a:prstGeom prst="roundRect">
            <a:avLst/>
          </a:prstGeom>
          <a:solidFill>
            <a:srgbClr val="DFECEB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959352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双向选择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4056" y="3794760"/>
            <a:ext cx="1572768" cy="502920"/>
          </a:xfrm>
          <a:prstGeom prst="roundRect">
            <a:avLst/>
          </a:prstGeom>
          <a:solidFill>
            <a:srgbClr val="DEEFF8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3959352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智能推荐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3794760"/>
            <a:ext cx="1572768" cy="502920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1" y="3959352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文档辅助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794760"/>
            <a:ext cx="1572768" cy="502920"/>
          </a:xfrm>
          <a:prstGeom prst="roundRect">
            <a:avLst/>
          </a:prstGeom>
          <a:solidFill>
            <a:srgbClr val="EFF4F3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75704" y="3959352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过程看板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44768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66570"/>
                </a:solidFill>
                <a:latin typeface="Microsoft YaHei"/>
              </a:rPr>
              <a:t>汇报日期：2026 年 5 月 6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① 研究内容和技术要求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课题背景：选题阶段的信息不对称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毕业设计选题是师生关系确定和后续研究质量的关键入口。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212848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传统系统偏重流程记录，难以帮助学生判断题目难度、技术要求和自身匹配度。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教师面对多名报名学生时，通常缺少对学生能力与课题要求的结构化匹配依据。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46704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735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大语言模型和文本分析能力为课题画像、文档理解和智能答疑提供了新的系统支撑。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508760"/>
            <a:ext cx="3886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7830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32B"/>
                </a:solidFill>
                <a:latin typeface="Microsoft YaHei"/>
              </a:rPr>
              <a:t>核心问题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331720"/>
            <a:ext cx="3154680" cy="384048"/>
          </a:xfrm>
          <a:prstGeom prst="roundRect">
            <a:avLst/>
          </a:prstGeom>
          <a:solidFill>
            <a:srgbClr val="DFECEB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44144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学生选题盲目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990087"/>
            <a:ext cx="3154680" cy="384048"/>
          </a:xfrm>
          <a:prstGeom prst="roundRect">
            <a:avLst/>
          </a:prstGeom>
          <a:solidFill>
            <a:srgbClr val="DEEFF8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099815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教师筛选粗略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648456"/>
            <a:ext cx="3154680" cy="38404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758183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文本信息未被利用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306824"/>
            <a:ext cx="3154680" cy="384048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416552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过程辅助不足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① 研究内容和技术要求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研究内容：三大核心模块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智能选题推荐模块：抽取课题关键词，构建课题画像与学生画像，形成 Top-N 推荐。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212848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智能问答与文档辅助模块：围绕毕设场景提供多轮问答、PDF 解析、摘要与要点提取。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过程管理与进度看板模块：将开题、实现、论文、答辩准备拆解为可追踪里程碑。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46704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735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基础业务支撑：身份认证、学期上下文、课题列表、志愿申报和最终指派关系。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691640"/>
            <a:ext cx="3611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185623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F6B68"/>
                </a:solidFill>
                <a:latin typeface="Microsoft YaHei"/>
              </a:rPr>
              <a:t>选题推荐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478024"/>
            <a:ext cx="3611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642616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4C75"/>
                </a:solidFill>
                <a:latin typeface="Microsoft YaHei"/>
              </a:rPr>
              <a:t>AI 问答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264408"/>
            <a:ext cx="3611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29000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8A5A12"/>
                </a:solidFill>
                <a:latin typeface="Microsoft YaHei"/>
              </a:rPr>
              <a:t>PDF 文档辅助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4050791"/>
            <a:ext cx="3611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4215383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5132"/>
                </a:solidFill>
                <a:latin typeface="Microsoft YaHei"/>
              </a:rPr>
              <a:t>任务看板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① 研究内容和技术要求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技术路线：前后端分离 + 异步 AI 任务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后端以 Flask 和 RESTful API 为主体，围绕接口契约和分层服务组织。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212848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前端采用独立工程承载选题、问答、文档与看板演示页面。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AI 和 PDF 处理采用 pending / running / done / failed 状态流，避免同步阻塞。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46704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735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接口结构与错误响应遵循 spec/contract.yaml 和 ErrorEnvelope 约束。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572768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691640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前端页面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231136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350008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API 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889504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008376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Service / Use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547872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666744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Queue / Worker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4206240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4325112"/>
            <a:ext cx="3154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7232B"/>
                </a:solidFill>
                <a:latin typeface="Microsoft YaHei"/>
              </a:rPr>
              <a:t>LLM / PDF Adapter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② 毕设计划和总体完成进度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总体进度：从系统骨架进入联调验证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需求与任务书主线已明确：选题双向选择是中心，AI 辅助作为增强能力。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212848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后端已形成接口契约、业务分层和异步任务主线，覆盖聊天、文档、选题等能力。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前端已建立独立工程与应用壳，完成登录、选题、聊天、文档、看板等页面。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46704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735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当前中期成果已具备页面展示和部分真实联调基础，后续聚焦选题推荐与志愿闭环。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737360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66570"/>
                </a:solidFill>
                <a:latin typeface="Microsoft YaHei"/>
              </a:rPr>
              <a:t>需求分析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764792"/>
            <a:ext cx="2148840" cy="128016"/>
          </a:xfrm>
          <a:prstGeom prst="roundRect">
            <a:avLst/>
          </a:prstGeom>
          <a:solidFill>
            <a:srgbClr val="E2E8E6"/>
          </a:solidFill>
          <a:ln w="1270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15400" y="1764792"/>
            <a:ext cx="2148840" cy="128016"/>
          </a:xfrm>
          <a:prstGeom prst="roundRect">
            <a:avLst/>
          </a:prstGeom>
          <a:solidFill>
            <a:srgbClr val="1F6B68"/>
          </a:solidFill>
          <a:ln w="12700">
            <a:solidFill>
              <a:srgbClr val="1F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34086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66570"/>
                </a:solidFill>
                <a:latin typeface="Microsoft YaHei"/>
              </a:rPr>
              <a:t>后端接口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68296"/>
            <a:ext cx="2148840" cy="128016"/>
          </a:xfrm>
          <a:prstGeom prst="roundRect">
            <a:avLst/>
          </a:prstGeom>
          <a:solidFill>
            <a:srgbClr val="E2E8E6"/>
          </a:solidFill>
          <a:ln w="1270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5400" y="2368296"/>
            <a:ext cx="1848002" cy="128016"/>
          </a:xfrm>
          <a:prstGeom prst="roundRect">
            <a:avLst/>
          </a:prstGeom>
          <a:solidFill>
            <a:srgbClr val="1F6B68"/>
          </a:solidFill>
          <a:ln w="12700">
            <a:solidFill>
              <a:srgbClr val="1F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94436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66570"/>
                </a:solidFill>
                <a:latin typeface="Microsoft YaHei"/>
              </a:rPr>
              <a:t>前端页面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971799"/>
            <a:ext cx="2148840" cy="128016"/>
          </a:xfrm>
          <a:prstGeom prst="roundRect">
            <a:avLst/>
          </a:prstGeom>
          <a:solidFill>
            <a:srgbClr val="E2E8E6"/>
          </a:solidFill>
          <a:ln w="1270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5400" y="2971799"/>
            <a:ext cx="1676095" cy="128016"/>
          </a:xfrm>
          <a:prstGeom prst="roundRect">
            <a:avLst/>
          </a:prstGeom>
          <a:solidFill>
            <a:srgbClr val="1F6B68"/>
          </a:solidFill>
          <a:ln w="12700">
            <a:solidFill>
              <a:srgbClr val="1F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547872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66570"/>
                </a:solidFill>
                <a:latin typeface="Microsoft YaHei"/>
              </a:rPr>
              <a:t>真实联调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3575303"/>
            <a:ext cx="2148840" cy="128016"/>
          </a:xfrm>
          <a:prstGeom prst="roundRect">
            <a:avLst/>
          </a:prstGeom>
          <a:solidFill>
            <a:srgbClr val="E2E8E6"/>
          </a:solidFill>
          <a:ln w="1270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15400" y="3575303"/>
            <a:ext cx="1375257" cy="128016"/>
          </a:xfrm>
          <a:prstGeom prst="roundRect">
            <a:avLst/>
          </a:prstGeom>
          <a:solidFill>
            <a:srgbClr val="8A5A12"/>
          </a:solidFill>
          <a:ln w="12700"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415137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66570"/>
                </a:solidFill>
                <a:latin typeface="Microsoft YaHei"/>
              </a:rPr>
              <a:t>推荐闭环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4178808"/>
            <a:ext cx="2148840" cy="128016"/>
          </a:xfrm>
          <a:prstGeom prst="roundRect">
            <a:avLst/>
          </a:prstGeom>
          <a:solidFill>
            <a:srgbClr val="E2E8E6"/>
          </a:solidFill>
          <a:ln w="1270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15400" y="4178808"/>
            <a:ext cx="902512" cy="128016"/>
          </a:xfrm>
          <a:prstGeom prst="roundRect">
            <a:avLst/>
          </a:prstGeom>
          <a:solidFill>
            <a:srgbClr val="8A5A12"/>
          </a:solidFill>
          <a:ln w="12700"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③ 中期成果展示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选题浏览与题目详情展示</a:t>
            </a:r>
          </a:p>
        </p:txBody>
      </p:sp>
      <p:pic>
        <p:nvPicPr>
          <p:cNvPr id="6" name="Picture 5" descr="midterm-snapshot-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543800" cy="46782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417320"/>
            <a:ext cx="315468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6B68"/>
                </a:solidFill>
                <a:latin typeface="Microsoft YaHei"/>
              </a:rPr>
              <a:t>展示说明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221992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1976" y="21488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对应任务书核心：智能化选题双向选择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2788920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271576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已形成题目浏览与详情联动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0" y="3355848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3282696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后续补齐推荐排序与志愿提交状态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800600"/>
            <a:ext cx="2606040" cy="65836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F5D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4956048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A5A12"/>
                </a:solidFill>
                <a:latin typeface="Microsoft YaHei"/>
              </a:rPr>
              <a:t>前端界面快照：题目列表、题目详情、研究要求、关键词与容量信息。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③ 中期成果展示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智能问答辅助与异步状态展示</a:t>
            </a:r>
          </a:p>
        </p:txBody>
      </p:sp>
      <p:pic>
        <p:nvPicPr>
          <p:cNvPr id="6" name="Picture 5" descr="midterm-snapshot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543800" cy="46782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417320"/>
            <a:ext cx="315468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6B68"/>
                </a:solidFill>
                <a:latin typeface="Microsoft YaHei"/>
              </a:rPr>
              <a:t>展示说明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221992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1976" y="21488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支撑学生在选题和实现阶段获得即时辅助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2788920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271576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消息流可展示 pending / running / done 状态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0" y="3355848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3282696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任务到终态后停止轮询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800600"/>
            <a:ext cx="2606040" cy="65836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F5D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4956048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A5A12"/>
                </a:solidFill>
                <a:latin typeface="Microsoft YaHei"/>
              </a:rPr>
              <a:t>前端界面快照：围绕选题比较的多轮问答与 assistant 异步状态。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③ 中期成果展示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PDF 文献辅助与任务结果展示</a:t>
            </a:r>
          </a:p>
        </p:txBody>
      </p:sp>
      <p:pic>
        <p:nvPicPr>
          <p:cNvPr id="6" name="Picture 5" descr="midterm-snapshot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543800" cy="46782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417320"/>
            <a:ext cx="315468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6B68"/>
                </a:solidFill>
                <a:latin typeface="Microsoft YaHei"/>
              </a:rPr>
              <a:t>展示说明</a:t>
            </a:r>
          </a:p>
        </p:txBody>
      </p:sp>
      <p:sp>
        <p:nvSpPr>
          <p:cNvPr id="9" name="Oval 8"/>
          <p:cNvSpPr/>
          <p:nvPr/>
        </p:nvSpPr>
        <p:spPr>
          <a:xfrm>
            <a:off x="8732520" y="2221992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1976" y="21488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对应任务书中的 AI 文档辅助模块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2788920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2715768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体现文献上传、解析、摘要的处理过程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0" y="3355848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3282696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20" b="0">
                <a:solidFill>
                  <a:srgbClr val="17232B"/>
                </a:solidFill>
                <a:latin typeface="Microsoft YaHei"/>
              </a:rPr>
              <a:t>异步任务统一回写状态与结果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800600"/>
            <a:ext cx="2606040" cy="65836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F5D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4956048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A5A12"/>
                </a:solidFill>
                <a:latin typeface="Microsoft YaHei"/>
              </a:rPr>
              <a:t>前端界面快照：PDF 任务列表、处理进度、摘要结果与要点提取。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③ 中期成果展示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工作台概览与过程任务看板</a:t>
            </a:r>
          </a:p>
        </p:txBody>
      </p:sp>
      <p:pic>
        <p:nvPicPr>
          <p:cNvPr id="6" name="Picture 5" descr="midterm-snap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94960" cy="3345624"/>
          </a:xfrm>
          <a:prstGeom prst="rect">
            <a:avLst/>
          </a:prstGeom>
        </p:spPr>
      </p:pic>
      <p:pic>
        <p:nvPicPr>
          <p:cNvPr id="7" name="Picture 6" descr="midterm-snapshot-tas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94960" cy="33456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742432"/>
            <a:ext cx="1077163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79592"/>
            <a:ext cx="749807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40" b="0">
                <a:solidFill>
                  <a:srgbClr val="8A5A12"/>
                </a:solidFill>
                <a:latin typeface="Microsoft YaHei"/>
              </a:rPr>
              <a:t>前端界面快照：首页用于展示近期状态，看板用于体现毕业设计过程管理。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④ 存在的问题及解决思路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当前问题：推荐与双向选择闭环仍需补齐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智能选题推荐目前需要进一步完善排序规则、推荐理由和学生画像输入。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212848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Topics 已完成列表与详情展示，志愿提交、我的志愿状态和最终指派仍需继续联调。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Taskboard 和 Dashboard 仍有静态/演示数据，需要接入真实统计与任务接口。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46704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735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AI 任务需要继续完善错误边界、空状态、超时与失败后的用户提示。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508760"/>
            <a:ext cx="3886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7830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32B"/>
                </a:solidFill>
                <a:latin typeface="Microsoft YaHei"/>
              </a:rPr>
              <a:t>解决思路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331720"/>
            <a:ext cx="3154680" cy="384048"/>
          </a:xfrm>
          <a:prstGeom prst="roundRect">
            <a:avLst/>
          </a:prstGeom>
          <a:solidFill>
            <a:srgbClr val="DFECEB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44144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先补主链路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990087"/>
            <a:ext cx="3154680" cy="384048"/>
          </a:xfrm>
          <a:prstGeom prst="roundRect">
            <a:avLst/>
          </a:prstGeom>
          <a:solidFill>
            <a:srgbClr val="DEEFF8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099815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小步联调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648456"/>
            <a:ext cx="3154680" cy="38404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758183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状态驱动轮询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306824"/>
            <a:ext cx="3154680" cy="384048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416552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回归测试兜底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⑤ 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下一步计划：围绕任务书完成系统闭环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第一阶段：补齐智能推荐展示，形成课题画像、学生偏好、Top-N 推荐和推荐理由。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212848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第二阶段：补齐志愿提交、志愿状态、教师确认与最终指派的双向选择链路。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第三阶段：接入任务看板真实数据，展示毕业设计过程管理与阶段跟踪。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46704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735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第四阶段：完善文档辅助、错误边界、测试报告、论文材料和答辩演示数据。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828800"/>
            <a:ext cx="1508760" cy="475488"/>
          </a:xfrm>
          <a:prstGeom prst="roundRect">
            <a:avLst/>
          </a:prstGeom>
          <a:solidFill>
            <a:srgbClr val="DFECEB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1984248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7232B"/>
                </a:solidFill>
                <a:latin typeface="Microsoft YaHei"/>
              </a:rPr>
              <a:t>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1508760" cy="475488"/>
          </a:xfrm>
          <a:prstGeom prst="roundRect">
            <a:avLst/>
          </a:prstGeom>
          <a:solidFill>
            <a:srgbClr val="DEEFF8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1984248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7232B"/>
                </a:solidFill>
                <a:latin typeface="Microsoft YaHei"/>
              </a:rPr>
              <a:t>志愿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743200"/>
            <a:ext cx="1508760" cy="47548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898648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7232B"/>
                </a:solidFill>
                <a:latin typeface="Microsoft YaHei"/>
              </a:rPr>
              <a:t>看板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743200"/>
            <a:ext cx="1508760" cy="475488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2898648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7232B"/>
                </a:solidFill>
                <a:latin typeface="Microsoft YaHei"/>
              </a:rPr>
              <a:t>测试与论文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6B68"/>
                </a:solidFill>
                <a:latin typeface="Microsoft YaHei"/>
              </a:rPr>
              <a:t>阶段总结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66570"/>
                </a:solidFill>
                <a:latin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7232B"/>
                </a:solidFill>
                <a:latin typeface="Microsoft YaHei"/>
              </a:rPr>
              <a:t>阶段总结：主题回到选题双向选择系统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45920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当前成果已覆盖选题浏览、智能问答、文档辅助和过程看板的中期展示能力。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212848"/>
            <a:ext cx="82296" cy="82296"/>
          </a:xfrm>
          <a:prstGeom prst="ellipse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系统实现方向与任务书保持一致：以双向选择为核心，以 AI 能力提升匹配和过程辅助。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82296" cy="82296"/>
          </a:xfrm>
          <a:prstGeom prst="ellipse">
            <a:avLst/>
          </a:prstGeom>
          <a:solidFill>
            <a:srgbClr val="8A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前端截图使用真实界面快照，作为界面与交互证据；接口联调将继续推进。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46704"/>
            <a:ext cx="82296" cy="82296"/>
          </a:xfrm>
          <a:prstGeom prst="ellipse">
            <a:avLst/>
          </a:prstGeom>
          <a:solidFill>
            <a:srgbClr val="1F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73552"/>
            <a:ext cx="6446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20" b="0">
                <a:solidFill>
                  <a:srgbClr val="17232B"/>
                </a:solidFill>
                <a:latin typeface="Microsoft YaHei"/>
              </a:rPr>
              <a:t>后续工作重点是把可演示页面推进为可交付业务闭环。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508760"/>
            <a:ext cx="3886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7830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32B"/>
                </a:solidFill>
                <a:latin typeface="Microsoft YaHei"/>
              </a:rPr>
              <a:t>中期结论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331720"/>
            <a:ext cx="3154680" cy="384048"/>
          </a:xfrm>
          <a:prstGeom prst="roundRect">
            <a:avLst/>
          </a:prstGeom>
          <a:solidFill>
            <a:srgbClr val="DFECEB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441448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方向已校准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990087"/>
            <a:ext cx="3154680" cy="384048"/>
          </a:xfrm>
          <a:prstGeom prst="roundRect">
            <a:avLst/>
          </a:prstGeom>
          <a:solidFill>
            <a:srgbClr val="DEEFF8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099815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骨架已形成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648456"/>
            <a:ext cx="3154680" cy="38404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758183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证据可展示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306824"/>
            <a:ext cx="3154680" cy="384048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5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416552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7232B"/>
                </a:solidFill>
                <a:latin typeface="Microsoft YaHei"/>
              </a:rPr>
              <a:t>闭环待完善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566570"/>
                </a:solidFill>
                <a:latin typeface="Microsoft YaHei"/>
              </a:rPr>
              <a:t>智能化毕业设计选题双向选择系统 · 中期答辩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基于大语言模型的智能化毕业设计选题双向选择系统设计与实现 - 中期答辩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
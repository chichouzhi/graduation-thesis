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8" r:id="rId7"/>
    <p:sldId id="269" r:id="rId8"/>
    <p:sldId id="270" r:id="rId9"/>
    <p:sldId id="271" r:id="rId10"/>
    <p:sldId id="272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2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ounded Rectangle 2"/>
          <p:cNvSpPr/>
          <p:nvPr/>
        </p:nvSpPr>
        <p:spPr>
          <a:xfrm>
            <a:off x="9646920" y="5303520"/>
            <a:ext cx="3566160" cy="2011680"/>
          </a:xfrm>
          <a:prstGeom prst="roundRect">
            <a:avLst/>
          </a:prstGeom>
          <a:solidFill>
            <a:srgbClr val="E0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8686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F80ED"/>
                </a:solidFill>
                <a:latin typeface="微软雅黑" panose="020B0503020204020204" charset="-122"/>
              </a:rPr>
              <a:t>中期答辩汇报</a:t>
            </a:r>
            <a:endParaRPr sz="1600" b="1">
              <a:solidFill>
                <a:srgbClr val="2F80ED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232" y="1325880"/>
            <a:ext cx="5760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B41"/>
                </a:solidFill>
                <a:latin typeface="微软雅黑" panose="020B0503020204020204" charset="-122"/>
              </a:rPr>
              <a:t>基于大语言模型的
智能化毕业设计辅助系统
设计与实现</a:t>
            </a:r>
            <a:endParaRPr sz="2800" b="1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49808" y="3657600"/>
            <a:ext cx="1170432" cy="36576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6324F"/>
                </a:solidFill>
                <a:latin typeface="微软雅黑" panose="020B0503020204020204" charset="-122"/>
              </a:rPr>
              <a:t>选题双向选择</a:t>
            </a:r>
            <a:endParaRPr sz="1000" b="1">
              <a:solidFill>
                <a:srgbClr val="16324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075688" y="3657600"/>
            <a:ext cx="1170432" cy="365760"/>
          </a:xfrm>
          <a:prstGeom prst="roundRect">
            <a:avLst/>
          </a:prstGeom>
          <a:solidFill>
            <a:srgbClr val="E0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6324F"/>
                </a:solidFill>
                <a:latin typeface="微软雅黑" panose="020B0503020204020204" charset="-122"/>
              </a:rPr>
              <a:t>智能问答</a:t>
            </a:r>
            <a:endParaRPr sz="1000" b="1">
              <a:solidFill>
                <a:srgbClr val="16324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401568" y="3657600"/>
            <a:ext cx="1170432" cy="36576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6324F"/>
                </a:solidFill>
                <a:latin typeface="微软雅黑" panose="020B0503020204020204" charset="-122"/>
              </a:rPr>
              <a:t>文档辅助</a:t>
            </a:r>
            <a:endParaRPr sz="1000" b="1">
              <a:solidFill>
                <a:srgbClr val="16324F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727448" y="3657600"/>
            <a:ext cx="1170432" cy="365760"/>
          </a:xfrm>
          <a:prstGeom prst="roundRect">
            <a:avLst/>
          </a:prstGeom>
          <a:solidFill>
            <a:srgbClr val="E0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6324F"/>
                </a:solidFill>
                <a:latin typeface="微软雅黑" panose="020B0503020204020204" charset="-122"/>
              </a:rPr>
              <a:t>过程管理</a:t>
            </a:r>
            <a:endParaRPr sz="1000" b="1">
              <a:solidFill>
                <a:srgbClr val="16324F"/>
              </a:solidFill>
              <a:latin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02920" y="6419088"/>
            <a:ext cx="11155680" cy="18288"/>
          </a:xfrm>
          <a:prstGeom prst="rect">
            <a:avLst/>
          </a:prstGeom>
          <a:solidFill>
            <a:srgbClr val="D6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32720" y="6464808"/>
            <a:ext cx="1371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7085"/>
                </a:solidFill>
                <a:latin typeface="微软雅黑" panose="020B0503020204020204" charset="-122"/>
              </a:rPr>
              <a:t>01</a:t>
            </a:r>
            <a:endParaRPr sz="90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32" name="TextBox 13"/>
          <p:cNvSpPr txBox="1"/>
          <p:nvPr/>
        </p:nvSpPr>
        <p:spPr>
          <a:xfrm>
            <a:off x="749935" y="5090160"/>
            <a:ext cx="3429000" cy="8604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zh-CN" sz="2000" b="0">
                <a:solidFill>
                  <a:srgbClr val="566570"/>
                </a:solidFill>
                <a:latin typeface="微软雅黑" panose="020B0503020204020204" charset="-122"/>
              </a:rPr>
              <a:t>汇报人：刘佳浩</a:t>
            </a:r>
            <a:endParaRPr sz="2000" b="0">
              <a:solidFill>
                <a:srgbClr val="566570"/>
              </a:solidFill>
              <a:latin typeface="微软雅黑" panose="020B0503020204020204" charset="-122"/>
            </a:endParaRPr>
          </a:p>
          <a:p>
            <a:pPr algn="l"/>
            <a:r>
              <a:rPr sz="2000" b="0">
                <a:solidFill>
                  <a:srgbClr val="566570"/>
                </a:solidFill>
                <a:latin typeface="微软雅黑" panose="020B0503020204020204" charset="-122"/>
              </a:rPr>
              <a:t>汇报日期：2026 年 5 月 </a:t>
            </a:r>
            <a:r>
              <a:rPr lang="en-US" sz="2000" b="0">
                <a:solidFill>
                  <a:srgbClr val="566570"/>
                </a:solidFill>
                <a:latin typeface="微软雅黑" panose="020B0503020204020204" charset="-122"/>
              </a:rPr>
              <a:t>8</a:t>
            </a:r>
            <a:r>
              <a:rPr sz="2000" b="0">
                <a:solidFill>
                  <a:srgbClr val="566570"/>
                </a:solidFill>
                <a:latin typeface="微软雅黑" panose="020B0503020204020204" charset="-122"/>
              </a:rPr>
              <a:t>日</a:t>
            </a:r>
            <a:endParaRPr sz="2000" b="0">
              <a:solidFill>
                <a:srgbClr val="56657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ounded Rectangle 2"/>
          <p:cNvSpPr/>
          <p:nvPr/>
        </p:nvSpPr>
        <p:spPr>
          <a:xfrm>
            <a:off x="9646920" y="5303520"/>
            <a:ext cx="3566160" cy="2011680"/>
          </a:xfrm>
          <a:prstGeom prst="roundRect">
            <a:avLst/>
          </a:prstGeom>
          <a:solidFill>
            <a:srgbClr val="E0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658368"/>
            <a:ext cx="8869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2B41"/>
                </a:solidFill>
                <a:latin typeface="微软雅黑" panose="020B0503020204020204" charset="-122"/>
              </a:rPr>
              <a:t>研究内容：从流程管理扩展到 AI 辅助工作台</a:t>
            </a:r>
            <a:endParaRPr sz="2400" b="1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1225296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67085"/>
                </a:solidFill>
                <a:latin typeface="微软雅黑" panose="020B0503020204020204" charset="-122"/>
              </a:rPr>
              <a:t>任务书主线以“选题双向选择”为核心，当前实现已覆盖问答、文档和过程管理能力。</a:t>
            </a:r>
            <a:endParaRPr sz="125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1137392" y="347472"/>
            <a:ext cx="585216" cy="310896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F80ED"/>
                </a:solidFill>
                <a:latin typeface="微软雅黑" panose="020B0503020204020204" charset="-122"/>
              </a:rPr>
              <a:t>2</a:t>
            </a:r>
            <a:endParaRPr sz="1050" b="1">
              <a:solidFill>
                <a:srgbClr val="2F80ED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1572768"/>
            <a:ext cx="56235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6384" y="1783080"/>
            <a:ext cx="1051560" cy="347472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研究内容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77824" y="2194560"/>
            <a:ext cx="146304" cy="146304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A2B41"/>
                </a:solidFill>
                <a:latin typeface="微软雅黑" panose="020B0503020204020204" charset="-122"/>
              </a:rPr>
              <a:t>选题双向选择</a:t>
            </a:r>
            <a:endParaRPr sz="1350" b="1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97280" y="23591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微软雅黑" panose="020B0503020204020204" charset="-122"/>
              </a:rPr>
              <a:t>课题浏览、详情查看、志愿填报和最终指派。</a:t>
            </a:r>
            <a:endParaRPr sz="1050" b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7824" y="2852928"/>
            <a:ext cx="146304" cy="146304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A2B41"/>
                </a:solidFill>
                <a:latin typeface="微软雅黑" panose="020B0503020204020204" charset="-122"/>
              </a:rPr>
              <a:t>智能问答</a:t>
            </a:r>
            <a:endParaRPr sz="1350" b="1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97280" y="30175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微软雅黑" panose="020B0503020204020204" charset="-122"/>
              </a:rPr>
              <a:t>围绕课题理解、技术方案、代码问题提供辅助。</a:t>
            </a:r>
            <a:endParaRPr sz="1050" b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877824" y="3511296"/>
            <a:ext cx="146304" cy="146304"/>
          </a:xfrm>
          <a:prstGeom prst="ellipse">
            <a:avLst/>
          </a:prstGeom>
          <a:solidFill>
            <a:srgbClr val="16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465576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A2B41"/>
                </a:solidFill>
                <a:latin typeface="微软雅黑" panose="020B0503020204020204" charset="-122"/>
              </a:rPr>
              <a:t>文档辅助</a:t>
            </a:r>
            <a:endParaRPr sz="1350" b="1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7280" y="3675887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微软雅黑" panose="020B0503020204020204" charset="-122"/>
              </a:rPr>
              <a:t>PDF 上传、解析、摘要提取和要点整理。</a:t>
            </a:r>
            <a:endParaRPr sz="1050" b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877824" y="4169664"/>
            <a:ext cx="146304" cy="146304"/>
          </a:xfrm>
          <a:prstGeom prst="ellipse">
            <a:avLst/>
          </a:prstGeom>
          <a:solidFill>
            <a:srgbClr val="16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123944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A2B41"/>
                </a:solidFill>
                <a:latin typeface="微软雅黑" panose="020B0503020204020204" charset="-122"/>
              </a:rPr>
              <a:t>过程管理</a:t>
            </a:r>
            <a:endParaRPr sz="1350" b="1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97280" y="433425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微软雅黑" panose="020B0503020204020204" charset="-122"/>
              </a:rPr>
              <a:t>开题、实现、论文、答辩准备等阶段任务跟踪。</a:t>
            </a:r>
            <a:endParaRPr sz="1050" b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77824" y="4828031"/>
            <a:ext cx="146304" cy="146304"/>
          </a:xfrm>
          <a:prstGeom prst="ellipse">
            <a:avLst/>
          </a:prstGeom>
          <a:solidFill>
            <a:srgbClr val="16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78231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A2B41"/>
                </a:solidFill>
                <a:latin typeface="微软雅黑" panose="020B0503020204020204" charset="-122"/>
              </a:rPr>
              <a:t>工作台整合</a:t>
            </a:r>
            <a:endParaRPr sz="1350" b="1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97280" y="4992623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微软雅黑" panose="020B0503020204020204" charset="-122"/>
              </a:rPr>
              <a:t>把上述能力统一到学生端毕业设计工作空间。</a:t>
            </a:r>
            <a:endParaRPr sz="1050" b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82512" y="1572768"/>
            <a:ext cx="519379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0" y="1783080"/>
            <a:ext cx="1051560" cy="347472"/>
          </a:xfrm>
          <a:prstGeom prst="roundRect">
            <a:avLst/>
          </a:prstGeom>
          <a:solidFill>
            <a:srgbClr val="16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技术要求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656832" y="2212848"/>
            <a:ext cx="2176272" cy="1042415"/>
          </a:xfrm>
          <a:prstGeom prst="roundRect">
            <a:avLst/>
          </a:prstGeom>
          <a:solidFill>
            <a:srgbClr val="E0FAF7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232257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16324F"/>
                </a:solidFill>
                <a:latin typeface="微软雅黑" panose="020B0503020204020204" charset="-122"/>
              </a:rPr>
              <a:t>前后端分离</a:t>
            </a:r>
            <a:endParaRPr sz="1240" b="1">
              <a:solidFill>
                <a:srgbClr val="16324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93992" y="259689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微软雅黑" panose="020B0503020204020204" charset="-122"/>
              </a:rPr>
              <a:t>接口清晰、边界明确、便于维护。</a:t>
            </a:r>
            <a:endParaRPr sz="1000" b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061704" y="2212848"/>
            <a:ext cx="2176272" cy="1042415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98864" y="232257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16324F"/>
                </a:solidFill>
                <a:latin typeface="微软雅黑" panose="020B0503020204020204" charset="-122"/>
              </a:rPr>
              <a:t>异步任务</a:t>
            </a:r>
            <a:endParaRPr sz="1240" b="1">
              <a:solidFill>
                <a:srgbClr val="16324F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198864" y="259689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微软雅黑" panose="020B0503020204020204" charset="-122"/>
              </a:rPr>
              <a:t>大模型与文档处理不阻塞请求。</a:t>
            </a:r>
            <a:endParaRPr sz="1000" b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656832" y="3630168"/>
            <a:ext cx="2176272" cy="1042415"/>
          </a:xfrm>
          <a:prstGeom prst="roundRect">
            <a:avLst/>
          </a:prstGeom>
          <a:solidFill>
            <a:srgbClr val="E0FAF7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93992" y="373989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16324F"/>
                </a:solidFill>
                <a:latin typeface="微软雅黑" panose="020B0503020204020204" charset="-122"/>
              </a:rPr>
              <a:t>统一错误格式</a:t>
            </a:r>
            <a:endParaRPr sz="1240" b="1">
              <a:solidFill>
                <a:srgbClr val="16324F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93992" y="401421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微软雅黑" panose="020B0503020204020204" charset="-122"/>
              </a:rPr>
              <a:t>前端可稳定处理与提示。</a:t>
            </a:r>
            <a:endParaRPr sz="1000" b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9061704" y="3630168"/>
            <a:ext cx="2176272" cy="1042415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98864" y="373989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16324F"/>
                </a:solidFill>
                <a:latin typeface="微软雅黑" panose="020B0503020204020204" charset="-122"/>
              </a:rPr>
              <a:t>可运行可演示</a:t>
            </a:r>
            <a:endParaRPr sz="1240" b="1">
              <a:solidFill>
                <a:srgbClr val="16324F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198864" y="401421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微软雅黑" panose="020B0503020204020204" charset="-122"/>
              </a:rPr>
              <a:t>核心链路稳定，适合中期答辩。</a:t>
            </a:r>
            <a:endParaRPr sz="1000" b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629400" y="5321808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20" b="0">
                <a:solidFill>
                  <a:srgbClr val="667085"/>
                </a:solidFill>
                <a:latin typeface="微软雅黑" panose="020B0503020204020204" charset="-122"/>
              </a:rPr>
              <a:t>本页重点说明系统的研究对象、能力边界与技术约束。</a:t>
            </a:r>
            <a:endParaRPr sz="1020" b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02920" y="6419088"/>
            <a:ext cx="11155680" cy="18288"/>
          </a:xfrm>
          <a:prstGeom prst="rect">
            <a:avLst/>
          </a:prstGeom>
          <a:solidFill>
            <a:srgbClr val="D6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32720" y="6464808"/>
            <a:ext cx="1371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7085"/>
                </a:solidFill>
                <a:latin typeface="微软雅黑" panose="020B0503020204020204" charset="-122"/>
              </a:rPr>
              <a:t>02</a:t>
            </a:r>
            <a:endParaRPr sz="90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ounded Rectangle 2"/>
          <p:cNvSpPr/>
          <p:nvPr/>
        </p:nvSpPr>
        <p:spPr>
          <a:xfrm>
            <a:off x="9646920" y="5303520"/>
            <a:ext cx="3566160" cy="2011680"/>
          </a:xfrm>
          <a:prstGeom prst="roundRect">
            <a:avLst/>
          </a:prstGeom>
          <a:solidFill>
            <a:srgbClr val="E0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658368"/>
            <a:ext cx="8869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2B41"/>
                </a:solidFill>
                <a:latin typeface="微软雅黑" panose="020B0503020204020204" charset="-122"/>
              </a:rPr>
              <a:t>技术路线：前后端分离 + 异步 AI 任务层</a:t>
            </a:r>
            <a:endParaRPr sz="2400" b="1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1225296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67085"/>
                </a:solidFill>
                <a:latin typeface="微软雅黑" panose="020B0503020204020204" charset="-122"/>
              </a:rPr>
              <a:t>用契约约束接口，用状态驱动任务，用分层组织业务逻辑。</a:t>
            </a:r>
            <a:endParaRPr sz="125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1137392" y="347472"/>
            <a:ext cx="585216" cy="310896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F80ED"/>
                </a:solidFill>
                <a:latin typeface="微软雅黑" panose="020B0503020204020204" charset="-122"/>
              </a:rPr>
              <a:t>3</a:t>
            </a:r>
            <a:endParaRPr sz="1050" b="1">
              <a:solidFill>
                <a:srgbClr val="2F80ED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3246120" cy="15544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1920240"/>
            <a:ext cx="1188720" cy="292608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前端工作台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0392" y="2340864"/>
            <a:ext cx="2743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1"/>
                </a:solidFill>
                <a:latin typeface="微软雅黑" panose="020B0503020204020204" charset="-122"/>
              </a:rPr>
              <a:t>登录、首页、聊天、文档、选题、任务看板</a:t>
            </a:r>
            <a:endParaRPr sz="120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17136" y="1783080"/>
            <a:ext cx="3246120" cy="1554480"/>
          </a:xfrm>
          <a:prstGeom prst="roundRect">
            <a:avLst/>
          </a:prstGeom>
          <a:solidFill>
            <a:srgbClr val="E0FAF7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81728" y="1920240"/>
            <a:ext cx="1188720" cy="292608"/>
          </a:xfrm>
          <a:prstGeom prst="roundRect">
            <a:avLst/>
          </a:prstGeom>
          <a:solidFill>
            <a:srgbClr val="16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</a:rPr>
              <a:t>后端技术栈</a:t>
            </a:r>
            <a:endParaRPr lang="zh-CN"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81728" y="2340864"/>
            <a:ext cx="27432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7232B"/>
                </a:solidFill>
                <a:latin typeface="微软雅黑" panose="020B0503020204020204" charset="-122"/>
                <a:sym typeface="+mn-ea"/>
              </a:rPr>
              <a:t> Flask 和 RESTful API 为主体，围绕接口契约和分层服务组织。</a:t>
            </a:r>
            <a:endParaRPr sz="120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48472" y="1783080"/>
            <a:ext cx="3246120" cy="1554480"/>
          </a:xfrm>
          <a:prstGeom prst="roundRect">
            <a:avLst/>
          </a:prstGeom>
          <a:solidFill>
            <a:srgbClr val="FFF4D3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13064" y="1920240"/>
            <a:ext cx="1188720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</a:rPr>
              <a:t>llm</a:t>
            </a:r>
            <a:r>
              <a:rPr lang="zh-CN" altLang="en-US" sz="1050" b="1">
                <a:solidFill>
                  <a:srgbClr val="FFFFFF"/>
                </a:solidFill>
                <a:latin typeface="微软雅黑" panose="020B0503020204020204" charset="-122"/>
              </a:rPr>
              <a:t>任务</a:t>
            </a:r>
            <a:endParaRPr lang="zh-CN" altLang="en-US"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13064" y="2340864"/>
            <a:ext cx="2743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1"/>
                </a:solidFill>
                <a:latin typeface="微软雅黑" panose="020B0503020204020204" charset="-122"/>
              </a:rPr>
              <a:t>异步执行模型调用、PDF 解析与结果回写</a:t>
            </a:r>
            <a:endParaRPr sz="120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108813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6112" y="3858768"/>
            <a:ext cx="1325880" cy="347472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状态驱动机制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60120" y="4279392"/>
            <a:ext cx="1097280" cy="438912"/>
          </a:xfrm>
          <a:prstGeom prst="roundRect">
            <a:avLst/>
          </a:prstGeom>
          <a:solidFill>
            <a:srgbClr val="EAF2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324F"/>
                </a:solidFill>
                <a:latin typeface="微软雅黑" panose="020B0503020204020204" charset="-122"/>
              </a:rPr>
              <a:t>提交</a:t>
            </a:r>
            <a:endParaRPr sz="1100" b="1">
              <a:solidFill>
                <a:srgbClr val="16324F"/>
              </a:solidFill>
              <a:latin typeface="微软雅黑" panose="020B0503020204020204" charset="-122"/>
            </a:endParaRPr>
          </a:p>
        </p:txBody>
      </p:sp>
      <p:sp>
        <p:nvSpPr>
          <p:cNvPr id="21" name="Chevron 20"/>
          <p:cNvSpPr/>
          <p:nvPr/>
        </p:nvSpPr>
        <p:spPr>
          <a:xfrm>
            <a:off x="2203704" y="4352544"/>
            <a:ext cx="219456" cy="219456"/>
          </a:xfrm>
          <a:prstGeom prst="chevron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743200" y="4279392"/>
            <a:ext cx="1188720" cy="438912"/>
          </a:xfrm>
          <a:prstGeom prst="roundRect">
            <a:avLst/>
          </a:prstGeom>
          <a:solidFill>
            <a:srgbClr val="D2E9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324F"/>
                </a:solidFill>
                <a:latin typeface="微软雅黑" panose="020B0503020204020204" charset="-122"/>
              </a:rPr>
              <a:t>pending</a:t>
            </a:r>
            <a:endParaRPr sz="1100" b="1">
              <a:solidFill>
                <a:srgbClr val="16324F"/>
              </a:solidFill>
              <a:latin typeface="微软雅黑" panose="020B0503020204020204" charset="-122"/>
            </a:endParaRPr>
          </a:p>
        </p:txBody>
      </p:sp>
      <p:sp>
        <p:nvSpPr>
          <p:cNvPr id="23" name="Chevron 22"/>
          <p:cNvSpPr/>
          <p:nvPr/>
        </p:nvSpPr>
        <p:spPr>
          <a:xfrm>
            <a:off x="3986784" y="4352544"/>
            <a:ext cx="219456" cy="219456"/>
          </a:xfrm>
          <a:prstGeom prst="chevron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26280" y="4279392"/>
            <a:ext cx="1188720" cy="438912"/>
          </a:xfrm>
          <a:prstGeom prst="roundRect">
            <a:avLst/>
          </a:prstGeom>
          <a:solidFill>
            <a:srgbClr val="E0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324F"/>
                </a:solidFill>
                <a:latin typeface="微软雅黑" panose="020B0503020204020204" charset="-122"/>
              </a:rPr>
              <a:t>running</a:t>
            </a:r>
            <a:endParaRPr sz="1100" b="1">
              <a:solidFill>
                <a:srgbClr val="16324F"/>
              </a:solidFill>
              <a:latin typeface="微软雅黑" panose="020B0503020204020204" charset="-122"/>
            </a:endParaRPr>
          </a:p>
        </p:txBody>
      </p:sp>
      <p:sp>
        <p:nvSpPr>
          <p:cNvPr id="25" name="Chevron 24"/>
          <p:cNvSpPr/>
          <p:nvPr/>
        </p:nvSpPr>
        <p:spPr>
          <a:xfrm>
            <a:off x="5769864" y="4352544"/>
            <a:ext cx="219456" cy="219456"/>
          </a:xfrm>
          <a:prstGeom prst="chevron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09360" y="4279392"/>
            <a:ext cx="1188720" cy="438912"/>
          </a:xfrm>
          <a:prstGeom prst="roundRect">
            <a:avLst/>
          </a:prstGeom>
          <a:solidFill>
            <a:srgbClr val="EAF2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324F"/>
                </a:solidFill>
                <a:latin typeface="微软雅黑" panose="020B0503020204020204" charset="-122"/>
              </a:rPr>
              <a:t>done</a:t>
            </a:r>
            <a:endParaRPr sz="1100" b="1">
              <a:solidFill>
                <a:srgbClr val="16324F"/>
              </a:solidFill>
              <a:latin typeface="微软雅黑" panose="020B0503020204020204" charset="-122"/>
            </a:endParaRPr>
          </a:p>
        </p:txBody>
      </p:sp>
      <p:sp>
        <p:nvSpPr>
          <p:cNvPr id="27" name="Chevron 26"/>
          <p:cNvSpPr/>
          <p:nvPr/>
        </p:nvSpPr>
        <p:spPr>
          <a:xfrm>
            <a:off x="7552944" y="4352544"/>
            <a:ext cx="219456" cy="219456"/>
          </a:xfrm>
          <a:prstGeom prst="chevron">
            <a:avLst/>
          </a:prstGeom>
          <a:solidFill>
            <a:srgbClr val="16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92440" y="4279392"/>
            <a:ext cx="1188720" cy="438912"/>
          </a:xfrm>
          <a:prstGeom prst="roundRect">
            <a:avLst/>
          </a:prstGeom>
          <a:solidFill>
            <a:srgbClr val="FFF4D3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A2B41"/>
                </a:solidFill>
                <a:latin typeface="微软雅黑" panose="020B0503020204020204" charset="-122"/>
              </a:rPr>
              <a:t>failed</a:t>
            </a:r>
            <a:endParaRPr sz="1100" b="1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29" name="Chevron 28"/>
          <p:cNvSpPr/>
          <p:nvPr/>
        </p:nvSpPr>
        <p:spPr>
          <a:xfrm>
            <a:off x="9336024" y="4352544"/>
            <a:ext cx="219456" cy="219456"/>
          </a:xfrm>
          <a:prstGeom prst="chevron">
            <a:avLst/>
          </a:prstGeom>
          <a:solidFill>
            <a:srgbClr val="16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875520" y="4279392"/>
            <a:ext cx="1188720" cy="438912"/>
          </a:xfrm>
          <a:prstGeom prst="roundRect">
            <a:avLst/>
          </a:prstGeom>
          <a:solidFill>
            <a:srgbClr val="EBF0F5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324F"/>
                </a:solidFill>
                <a:latin typeface="微软雅黑" panose="020B0503020204020204" charset="-122"/>
              </a:rPr>
              <a:t>轮询停止</a:t>
            </a:r>
            <a:endParaRPr sz="1100" b="1">
              <a:solidFill>
                <a:srgbClr val="16324F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96112" y="4901184"/>
            <a:ext cx="10149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微软雅黑" panose="020B0503020204020204" charset="-122"/>
              </a:rPr>
              <a:t>接口结构与错误响应遵循 spec/contract.yaml 和 ErrorEnvelope 约束，保证前后端联调一致。</a:t>
            </a:r>
            <a:endParaRPr sz="1050" b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02920" y="6419088"/>
            <a:ext cx="11155680" cy="18288"/>
          </a:xfrm>
          <a:prstGeom prst="rect">
            <a:avLst/>
          </a:prstGeom>
          <a:solidFill>
            <a:srgbClr val="D6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20" y="6464808"/>
            <a:ext cx="1371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7085"/>
                </a:solidFill>
                <a:latin typeface="微软雅黑" panose="020B0503020204020204" charset="-122"/>
              </a:rPr>
              <a:t>03</a:t>
            </a:r>
            <a:endParaRPr sz="90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ounded Rectangle 2"/>
          <p:cNvSpPr/>
          <p:nvPr/>
        </p:nvSpPr>
        <p:spPr>
          <a:xfrm>
            <a:off x="9646920" y="5303520"/>
            <a:ext cx="3566160" cy="2011680"/>
          </a:xfrm>
          <a:prstGeom prst="roundRect">
            <a:avLst/>
          </a:prstGeom>
          <a:solidFill>
            <a:srgbClr val="E0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658368"/>
            <a:ext cx="8869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2B41"/>
                </a:solidFill>
                <a:latin typeface="微软雅黑" panose="020B0503020204020204" charset="-122"/>
              </a:rPr>
              <a:t>计划进度：第十周已进入核心链路联调阶段</a:t>
            </a:r>
            <a:endParaRPr sz="2400" b="1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1225296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67085"/>
                </a:solidFill>
                <a:latin typeface="微软雅黑" panose="020B0503020204020204" charset="-122"/>
              </a:rPr>
              <a:t>已完成主线从需求梳理推进到真实联调，后续重点转向闭环补齐与演示稳定性。</a:t>
            </a:r>
            <a:endParaRPr sz="125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1137392" y="347472"/>
            <a:ext cx="585216" cy="310896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F80ED"/>
                </a:solidFill>
                <a:latin typeface="微软雅黑" panose="020B0503020204020204" charset="-122"/>
              </a:rPr>
              <a:t>4</a:t>
            </a:r>
            <a:endParaRPr sz="1050" b="1">
              <a:solidFill>
                <a:srgbClr val="2F80ED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1874519"/>
            <a:ext cx="1234440" cy="347472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阶段时间轴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60120" y="2606040"/>
            <a:ext cx="1691640" cy="105156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F80ED"/>
                </a:solidFill>
                <a:latin typeface="微软雅黑" panose="020B0503020204020204" charset="-122"/>
              </a:rPr>
              <a:t>1-3 周</a:t>
            </a:r>
            <a:endParaRPr sz="1600" b="1">
              <a:solidFill>
                <a:srgbClr val="2F80ED"/>
              </a:solidFill>
              <a:latin typeface="微软雅黑" panose="020B0503020204020204" charset="-122"/>
            </a:endParaRPr>
          </a:p>
          <a:p>
            <a:pPr algn="ctr"/>
            <a:r>
              <a:rPr sz="950">
                <a:solidFill>
                  <a:srgbClr val="1A2B41"/>
                </a:solidFill>
                <a:latin typeface="微软雅黑" panose="020B0503020204020204" charset="-122"/>
              </a:rPr>
              <a:t>开题、文献调研、需求梳理</a:t>
            </a:r>
            <a:endParaRPr sz="95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2697480" y="2971800"/>
            <a:ext cx="256032" cy="164592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44952" y="2606040"/>
            <a:ext cx="1691640" cy="1051560"/>
          </a:xfrm>
          <a:prstGeom prst="roundRect">
            <a:avLst/>
          </a:prstGeom>
          <a:solidFill>
            <a:srgbClr val="E0FAF7"/>
          </a:solidFill>
          <a:ln>
            <a:solidFill>
              <a:srgbClr val="16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A3A3"/>
                </a:solidFill>
                <a:latin typeface="微软雅黑" panose="020B0503020204020204" charset="-122"/>
              </a:rPr>
              <a:t>4-5 周</a:t>
            </a:r>
            <a:endParaRPr sz="1600" b="1">
              <a:solidFill>
                <a:srgbClr val="16A3A3"/>
              </a:solidFill>
              <a:latin typeface="微软雅黑" panose="020B0503020204020204" charset="-122"/>
            </a:endParaRPr>
          </a:p>
          <a:p>
            <a:pPr algn="ctr"/>
            <a:r>
              <a:rPr sz="950">
                <a:solidFill>
                  <a:srgbClr val="1A2B41"/>
                </a:solidFill>
                <a:latin typeface="微软雅黑" panose="020B0503020204020204" charset="-122"/>
              </a:rPr>
              <a:t>总体设计、数据设计、环境搭建</a:t>
            </a:r>
            <a:endParaRPr sz="95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4782312" y="2971800"/>
            <a:ext cx="256032" cy="164592"/>
          </a:xfrm>
          <a:prstGeom prst="rightArrow">
            <a:avLst/>
          </a:prstGeom>
          <a:solidFill>
            <a:srgbClr val="16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9783" y="2606040"/>
            <a:ext cx="1691640" cy="1051560"/>
          </a:xfrm>
          <a:prstGeom prst="roundRect">
            <a:avLst/>
          </a:prstGeom>
          <a:solidFill>
            <a:srgbClr val="E3FA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0B981"/>
                </a:solidFill>
                <a:latin typeface="微软雅黑" panose="020B0503020204020204" charset="-122"/>
              </a:rPr>
              <a:t>6-10 周</a:t>
            </a:r>
            <a:endParaRPr sz="1600" b="1">
              <a:solidFill>
                <a:srgbClr val="10B981"/>
              </a:solidFill>
              <a:latin typeface="微软雅黑" panose="020B0503020204020204" charset="-122"/>
            </a:endParaRPr>
          </a:p>
          <a:p>
            <a:pPr algn="ctr"/>
            <a:r>
              <a:rPr sz="950">
                <a:solidFill>
                  <a:srgbClr val="1A2B41"/>
                </a:solidFill>
                <a:latin typeface="微软雅黑" panose="020B0503020204020204" charset="-122"/>
              </a:rPr>
              <a:t>核心模块编码与联调</a:t>
            </a:r>
            <a:endParaRPr sz="95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6867143" y="2971800"/>
            <a:ext cx="256032" cy="164592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4616" y="2606040"/>
            <a:ext cx="1691640" cy="1051560"/>
          </a:xfrm>
          <a:prstGeom prst="roundRect">
            <a:avLst/>
          </a:prstGeom>
          <a:solidFill>
            <a:srgbClr val="E0FAF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9E0B"/>
                </a:solidFill>
                <a:latin typeface="微软雅黑" panose="020B0503020204020204" charset="-122"/>
              </a:rPr>
              <a:t>11-12 周</a:t>
            </a:r>
            <a:endParaRPr sz="1600" b="1">
              <a:solidFill>
                <a:srgbClr val="F59E0B"/>
              </a:solidFill>
              <a:latin typeface="微软雅黑" panose="020B0503020204020204" charset="-122"/>
            </a:endParaRPr>
          </a:p>
          <a:p>
            <a:pPr algn="ctr"/>
            <a:r>
              <a:rPr sz="950">
                <a:solidFill>
                  <a:srgbClr val="1A2B41"/>
                </a:solidFill>
                <a:latin typeface="微软雅黑" panose="020B0503020204020204" charset="-122"/>
              </a:rPr>
              <a:t>系统整合、调试与修复</a:t>
            </a:r>
            <a:endParaRPr sz="95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8951976" y="2971800"/>
            <a:ext cx="256032" cy="164592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99448" y="2606040"/>
            <a:ext cx="1691640" cy="1051560"/>
          </a:xfrm>
          <a:prstGeom prst="roundRect">
            <a:avLst/>
          </a:prstGeom>
          <a:solidFill>
            <a:srgbClr val="EA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6366F1"/>
                </a:solidFill>
                <a:latin typeface="微软雅黑" panose="020B0503020204020204" charset="-122"/>
              </a:rPr>
              <a:t>13-15 周</a:t>
            </a:r>
            <a:endParaRPr sz="1600" b="1">
              <a:solidFill>
                <a:srgbClr val="6366F1"/>
              </a:solidFill>
              <a:latin typeface="微软雅黑" panose="020B0503020204020204" charset="-122"/>
            </a:endParaRPr>
          </a:p>
          <a:p>
            <a:pPr algn="ctr"/>
            <a:r>
              <a:rPr sz="950">
                <a:solidFill>
                  <a:srgbClr val="1A2B41"/>
                </a:solidFill>
                <a:latin typeface="微软雅黑" panose="020B0503020204020204" charset="-122"/>
              </a:rPr>
              <a:t>测试、论文与答辩准备</a:t>
            </a:r>
            <a:endParaRPr sz="95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96112" y="4160520"/>
            <a:ext cx="3154680" cy="1417320"/>
          </a:xfrm>
          <a:prstGeom prst="roundRect">
            <a:avLst/>
          </a:prstGeom>
          <a:solidFill>
            <a:srgbClr val="FFF4D3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3708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微软雅黑" panose="020B0503020204020204" charset="-122"/>
              </a:rPr>
              <a:t>当前进度</a:t>
            </a:r>
            <a:endParaRPr sz="1200" b="1">
              <a:solidFill>
                <a:srgbClr val="F59E0B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78992" y="4626864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B41"/>
                </a:solidFill>
                <a:latin typeface="微软雅黑" panose="020B0503020204020204" charset="-122"/>
              </a:rPr>
              <a:t>第十周
核心功能联调与中期成果整理</a:t>
            </a:r>
            <a:endParaRPr sz="1400" b="1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251960" y="4160520"/>
            <a:ext cx="6858000" cy="141732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4361688"/>
            <a:ext cx="6309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80ED"/>
                </a:solidFill>
                <a:latin typeface="微软雅黑" panose="020B0503020204020204" charset="-122"/>
              </a:rPr>
              <a:t>当前已完成</a:t>
            </a:r>
            <a:endParaRPr sz="1200" b="1">
              <a:solidFill>
                <a:srgbClr val="2F80ED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498848" y="4599432"/>
            <a:ext cx="6126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微软雅黑" panose="020B0503020204020204" charset="-122"/>
              </a:rPr>
              <a:t>• 后端核心能力与接口契约</a:t>
            </a:r>
            <a:endParaRPr sz="1050" b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498848" y="4855464"/>
            <a:ext cx="6126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微软雅黑" panose="020B0503020204020204" charset="-122"/>
              </a:rPr>
              <a:t>• 前端独立工程与主要页面框架</a:t>
            </a:r>
            <a:endParaRPr sz="1050" b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498848" y="5111496"/>
            <a:ext cx="6126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微软雅黑" panose="020B0503020204020204" charset="-122"/>
              </a:rPr>
              <a:t>• 登录、聊天、文档、选题真实联调</a:t>
            </a:r>
            <a:endParaRPr sz="1050" b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02920" y="6419088"/>
            <a:ext cx="11155680" cy="18288"/>
          </a:xfrm>
          <a:prstGeom prst="rect">
            <a:avLst/>
          </a:prstGeom>
          <a:solidFill>
            <a:srgbClr val="D6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0" y="6464808"/>
            <a:ext cx="1371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7085"/>
                </a:solidFill>
                <a:latin typeface="微软雅黑" panose="020B0503020204020204" charset="-122"/>
              </a:rPr>
              <a:t>04</a:t>
            </a:r>
            <a:endParaRPr sz="90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ounded Rectangle 2"/>
          <p:cNvSpPr/>
          <p:nvPr/>
        </p:nvSpPr>
        <p:spPr>
          <a:xfrm>
            <a:off x="9646920" y="5303520"/>
            <a:ext cx="3566160" cy="2011680"/>
          </a:xfrm>
          <a:prstGeom prst="roundRect">
            <a:avLst/>
          </a:prstGeom>
          <a:solidFill>
            <a:srgbClr val="E0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10896"/>
            <a:ext cx="15621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80ED"/>
                </a:solidFill>
                <a:latin typeface="微软雅黑" panose="020B0503020204020204" charset="-122"/>
              </a:rPr>
              <a:t>中期成果展示</a:t>
            </a:r>
            <a:endParaRPr sz="1800" b="1">
              <a:solidFill>
                <a:srgbClr val="2F80ED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8" y="658368"/>
            <a:ext cx="8869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2B41"/>
                </a:solidFill>
                <a:latin typeface="微软雅黑" panose="020B0503020204020204" charset="-122"/>
              </a:rPr>
              <a:t>Dashboard 首页</a:t>
            </a:r>
            <a:endParaRPr sz="2400" b="1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1225296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67085"/>
                </a:solidFill>
                <a:latin typeface="微软雅黑" panose="020B0503020204020204" charset="-122"/>
              </a:rPr>
              <a:t>工作台概览、近期工作、任务状态、快捷入口</a:t>
            </a:r>
            <a:endParaRPr sz="125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1137392" y="347472"/>
            <a:ext cx="585216" cy="310896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F80ED"/>
                </a:solidFill>
                <a:latin typeface="微软雅黑" panose="020B0503020204020204" charset="-122"/>
              </a:rPr>
              <a:t>5</a:t>
            </a:r>
            <a:endParaRPr sz="1050" b="1">
              <a:solidFill>
                <a:srgbClr val="2F80ED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" y="1554480"/>
            <a:ext cx="28803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1783080"/>
            <a:ext cx="914400" cy="347472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展示重点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0392" y="2212848"/>
            <a:ext cx="2331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B41"/>
                </a:solidFill>
                <a:latin typeface="微软雅黑" panose="020B0503020204020204" charset="-122"/>
              </a:rPr>
              <a:t>展示首页如何承接毕业设计工作台的整体入口。</a:t>
            </a:r>
            <a:endParaRPr sz="1200" b="1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7824" y="2715768"/>
            <a:ext cx="128016" cy="128016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6700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A2B41"/>
                </a:solidFill>
                <a:latin typeface="微软雅黑" panose="020B0503020204020204" charset="-122"/>
              </a:rPr>
              <a:t>工作台概览</a:t>
            </a:r>
            <a:endParaRPr sz="112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7824" y="3218688"/>
            <a:ext cx="128016" cy="128016"/>
          </a:xfrm>
          <a:prstGeom prst="ellipse">
            <a:avLst/>
          </a:prstGeom>
          <a:solidFill>
            <a:srgbClr val="16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17296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A2B41"/>
                </a:solidFill>
                <a:latin typeface="微软雅黑" panose="020B0503020204020204" charset="-122"/>
              </a:rPr>
              <a:t>近期工作</a:t>
            </a:r>
            <a:endParaRPr sz="112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7824" y="3721608"/>
            <a:ext cx="128016" cy="128016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67588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A2B41"/>
                </a:solidFill>
                <a:latin typeface="微软雅黑" panose="020B0503020204020204" charset="-122"/>
              </a:rPr>
              <a:t>任务状态</a:t>
            </a:r>
            <a:endParaRPr sz="112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877824" y="4224528"/>
            <a:ext cx="128016" cy="128016"/>
          </a:xfrm>
          <a:prstGeom prst="ellipse">
            <a:avLst/>
          </a:prstGeom>
          <a:solidFill>
            <a:srgbClr val="16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17880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A2B41"/>
                </a:solidFill>
                <a:latin typeface="微软雅黑" panose="020B0503020204020204" charset="-122"/>
              </a:rPr>
              <a:t>快捷入口</a:t>
            </a:r>
            <a:endParaRPr sz="112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02920" y="6419088"/>
            <a:ext cx="11155680" cy="18288"/>
          </a:xfrm>
          <a:prstGeom prst="rect">
            <a:avLst/>
          </a:prstGeom>
          <a:solidFill>
            <a:srgbClr val="D6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0" y="6464808"/>
            <a:ext cx="1371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7085"/>
                </a:solidFill>
                <a:latin typeface="微软雅黑" panose="020B0503020204020204" charset="-122"/>
              </a:rPr>
              <a:t>05</a:t>
            </a:r>
            <a:endParaRPr sz="90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pic>
        <p:nvPicPr>
          <p:cNvPr id="26" name="图片 25" descr="midterm-snapshot-dashboar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1135" y="1545590"/>
            <a:ext cx="737044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ounded Rectangle 2"/>
          <p:cNvSpPr/>
          <p:nvPr/>
        </p:nvSpPr>
        <p:spPr>
          <a:xfrm>
            <a:off x="9646920" y="5303520"/>
            <a:ext cx="3566160" cy="2011680"/>
          </a:xfrm>
          <a:prstGeom prst="roundRect">
            <a:avLst/>
          </a:prstGeom>
          <a:solidFill>
            <a:srgbClr val="E0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10896"/>
            <a:ext cx="15621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80ED"/>
                </a:solidFill>
                <a:latin typeface="微软雅黑" panose="020B0503020204020204" charset="-122"/>
              </a:rPr>
              <a:t>中期成果展示</a:t>
            </a:r>
            <a:endParaRPr sz="1800" b="1">
              <a:solidFill>
                <a:srgbClr val="2F80ED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8" y="658368"/>
            <a:ext cx="8869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2B41"/>
                </a:solidFill>
                <a:latin typeface="微软雅黑" panose="020B0503020204020204" charset="-122"/>
              </a:rPr>
              <a:t>Chat 智能问答</a:t>
            </a:r>
            <a:endParaRPr sz="2400" b="1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1225296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67085"/>
                </a:solidFill>
                <a:latin typeface="微软雅黑" panose="020B0503020204020204" charset="-122"/>
              </a:rPr>
              <a:t>会话列表、消息流、异步回复、任务状态变化</a:t>
            </a:r>
            <a:endParaRPr sz="125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1137392" y="347472"/>
            <a:ext cx="585216" cy="310896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F80ED"/>
                </a:solidFill>
                <a:latin typeface="微软雅黑" panose="020B0503020204020204" charset="-122"/>
              </a:rPr>
              <a:t>6</a:t>
            </a:r>
            <a:endParaRPr sz="1050" b="1">
              <a:solidFill>
                <a:srgbClr val="2F80ED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" y="1554480"/>
            <a:ext cx="28803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1783080"/>
            <a:ext cx="914400" cy="347472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展示重点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0392" y="2212848"/>
            <a:ext cx="2331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B41"/>
                </a:solidFill>
                <a:latin typeface="微软雅黑" panose="020B0503020204020204" charset="-122"/>
              </a:rPr>
              <a:t>展示学生围绕课题理解和技术问题进行异步问答。</a:t>
            </a:r>
            <a:endParaRPr sz="1200" b="1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7824" y="2715768"/>
            <a:ext cx="128016" cy="128016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6700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A2B41"/>
                </a:solidFill>
                <a:latin typeface="微软雅黑" panose="020B0503020204020204" charset="-122"/>
              </a:rPr>
              <a:t>会话列表</a:t>
            </a:r>
            <a:endParaRPr sz="112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7824" y="3218688"/>
            <a:ext cx="128016" cy="128016"/>
          </a:xfrm>
          <a:prstGeom prst="ellipse">
            <a:avLst/>
          </a:prstGeom>
          <a:solidFill>
            <a:srgbClr val="16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17296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A2B41"/>
                </a:solidFill>
                <a:latin typeface="微软雅黑" panose="020B0503020204020204" charset="-122"/>
              </a:rPr>
              <a:t>消息流</a:t>
            </a:r>
            <a:endParaRPr sz="112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7824" y="3721608"/>
            <a:ext cx="128016" cy="128016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67588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A2B41"/>
                </a:solidFill>
                <a:latin typeface="微软雅黑" panose="020B0503020204020204" charset="-122"/>
              </a:rPr>
              <a:t>异步回复</a:t>
            </a:r>
            <a:endParaRPr sz="112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877824" y="4224528"/>
            <a:ext cx="128016" cy="128016"/>
          </a:xfrm>
          <a:prstGeom prst="ellipse">
            <a:avLst/>
          </a:prstGeom>
          <a:solidFill>
            <a:srgbClr val="16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17880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A2B41"/>
                </a:solidFill>
                <a:latin typeface="微软雅黑" panose="020B0503020204020204" charset="-122"/>
              </a:rPr>
              <a:t>终态停止</a:t>
            </a:r>
            <a:endParaRPr sz="112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02920" y="6419088"/>
            <a:ext cx="11155680" cy="18288"/>
          </a:xfrm>
          <a:prstGeom prst="rect">
            <a:avLst/>
          </a:prstGeom>
          <a:solidFill>
            <a:srgbClr val="D6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0" y="6464808"/>
            <a:ext cx="1371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7085"/>
                </a:solidFill>
                <a:latin typeface="微软雅黑" panose="020B0503020204020204" charset="-122"/>
              </a:rPr>
              <a:t>06</a:t>
            </a:r>
            <a:endParaRPr sz="90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pic>
        <p:nvPicPr>
          <p:cNvPr id="26" name="图片 25" descr="midterm-snapshot-cha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2405" y="1576705"/>
            <a:ext cx="7389495" cy="45827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ounded Rectangle 2"/>
          <p:cNvSpPr/>
          <p:nvPr/>
        </p:nvSpPr>
        <p:spPr>
          <a:xfrm>
            <a:off x="9646920" y="5303520"/>
            <a:ext cx="3566160" cy="2011680"/>
          </a:xfrm>
          <a:prstGeom prst="roundRect">
            <a:avLst/>
          </a:prstGeom>
          <a:solidFill>
            <a:srgbClr val="E0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10896"/>
            <a:ext cx="15621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80ED"/>
                </a:solidFill>
                <a:latin typeface="微软雅黑" panose="020B0503020204020204" charset="-122"/>
              </a:rPr>
              <a:t>中期成果展示</a:t>
            </a:r>
            <a:endParaRPr sz="1800" b="1">
              <a:solidFill>
                <a:srgbClr val="2F80ED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8" y="658368"/>
            <a:ext cx="8869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2B41"/>
                </a:solidFill>
                <a:latin typeface="微软雅黑" panose="020B0503020204020204" charset="-122"/>
              </a:rPr>
              <a:t>Documents 文档辅助</a:t>
            </a:r>
            <a:endParaRPr sz="2400" b="1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1225296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67085"/>
                </a:solidFill>
                <a:latin typeface="微软雅黑" panose="020B0503020204020204" charset="-122"/>
              </a:rPr>
              <a:t>PDF 上传、任务详情、摘要结果、状态轮询</a:t>
            </a:r>
            <a:endParaRPr sz="125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1137392" y="347472"/>
            <a:ext cx="585216" cy="310896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F80ED"/>
                </a:solidFill>
                <a:latin typeface="微软雅黑" panose="020B0503020204020204" charset="-122"/>
              </a:rPr>
              <a:t>7</a:t>
            </a:r>
            <a:endParaRPr sz="1050" b="1">
              <a:solidFill>
                <a:srgbClr val="2F80ED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" y="1554480"/>
            <a:ext cx="28803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1783080"/>
            <a:ext cx="914400" cy="347472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展示重点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0392" y="2212848"/>
            <a:ext cx="2331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B41"/>
                </a:solidFill>
                <a:latin typeface="微软雅黑" panose="020B0503020204020204" charset="-122"/>
              </a:rPr>
              <a:t>展示 PDF 文献处理与摘要生成的异步链路。</a:t>
            </a:r>
            <a:endParaRPr sz="1200" b="1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7824" y="2715768"/>
            <a:ext cx="128016" cy="128016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6700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A2B41"/>
                </a:solidFill>
                <a:latin typeface="微软雅黑" panose="020B0503020204020204" charset="-122"/>
              </a:rPr>
              <a:t>PDF 上传</a:t>
            </a:r>
            <a:endParaRPr sz="112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7824" y="3218688"/>
            <a:ext cx="128016" cy="128016"/>
          </a:xfrm>
          <a:prstGeom prst="ellipse">
            <a:avLst/>
          </a:prstGeom>
          <a:solidFill>
            <a:srgbClr val="16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17296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A2B41"/>
                </a:solidFill>
                <a:latin typeface="微软雅黑" panose="020B0503020204020204" charset="-122"/>
              </a:rPr>
              <a:t>任务详情</a:t>
            </a:r>
            <a:endParaRPr sz="112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7824" y="3721608"/>
            <a:ext cx="128016" cy="128016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67588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A2B41"/>
                </a:solidFill>
                <a:latin typeface="微软雅黑" panose="020B0503020204020204" charset="-122"/>
              </a:rPr>
              <a:t>摘要结果</a:t>
            </a:r>
            <a:endParaRPr sz="112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877824" y="4224528"/>
            <a:ext cx="128016" cy="128016"/>
          </a:xfrm>
          <a:prstGeom prst="ellipse">
            <a:avLst/>
          </a:prstGeom>
          <a:solidFill>
            <a:srgbClr val="16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17880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A2B41"/>
                </a:solidFill>
                <a:latin typeface="微软雅黑" panose="020B0503020204020204" charset="-122"/>
              </a:rPr>
              <a:t>状态轮询</a:t>
            </a:r>
            <a:endParaRPr sz="112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02920" y="6419088"/>
            <a:ext cx="11155680" cy="18288"/>
          </a:xfrm>
          <a:prstGeom prst="rect">
            <a:avLst/>
          </a:prstGeom>
          <a:solidFill>
            <a:srgbClr val="D6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0" y="6464808"/>
            <a:ext cx="1371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7085"/>
                </a:solidFill>
                <a:latin typeface="微软雅黑" panose="020B0503020204020204" charset="-122"/>
              </a:rPr>
              <a:t>07</a:t>
            </a:r>
            <a:endParaRPr sz="90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pic>
        <p:nvPicPr>
          <p:cNvPr id="26" name="图片 25" descr="midterm-snapshot-documen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0180" y="1545590"/>
            <a:ext cx="7383145" cy="45789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ounded Rectangle 2"/>
          <p:cNvSpPr/>
          <p:nvPr/>
        </p:nvSpPr>
        <p:spPr>
          <a:xfrm>
            <a:off x="9646920" y="5303520"/>
            <a:ext cx="3566160" cy="2011680"/>
          </a:xfrm>
          <a:prstGeom prst="roundRect">
            <a:avLst/>
          </a:prstGeom>
          <a:solidFill>
            <a:srgbClr val="E0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10896"/>
            <a:ext cx="15621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80ED"/>
                </a:solidFill>
                <a:latin typeface="微软雅黑" panose="020B0503020204020204" charset="-122"/>
              </a:rPr>
              <a:t>中期成果展示</a:t>
            </a:r>
            <a:endParaRPr sz="1800" b="1">
              <a:solidFill>
                <a:srgbClr val="2F80ED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8" y="658368"/>
            <a:ext cx="8869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2B41"/>
                </a:solidFill>
                <a:latin typeface="微软雅黑" panose="020B0503020204020204" charset="-122"/>
              </a:rPr>
              <a:t>Topics 选题浏览</a:t>
            </a:r>
            <a:endParaRPr sz="2400" b="1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1225296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67085"/>
                </a:solidFill>
                <a:latin typeface="微软雅黑" panose="020B0503020204020204" charset="-122"/>
              </a:rPr>
              <a:t>题目列表、详情联动、研究要求、技术关键词</a:t>
            </a:r>
            <a:endParaRPr sz="125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1137392" y="347472"/>
            <a:ext cx="585216" cy="310896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F80ED"/>
                </a:solidFill>
                <a:latin typeface="微软雅黑" panose="020B0503020204020204" charset="-122"/>
              </a:rPr>
              <a:t>8</a:t>
            </a:r>
            <a:endParaRPr sz="1050" b="1">
              <a:solidFill>
                <a:srgbClr val="2F80ED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" y="1554480"/>
            <a:ext cx="28803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1783080"/>
            <a:ext cx="914400" cy="347472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展示重点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0392" y="2212848"/>
            <a:ext cx="2331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B41"/>
                </a:solidFill>
                <a:latin typeface="微软雅黑" panose="020B0503020204020204" charset="-122"/>
              </a:rPr>
              <a:t>展示课题浏览和详情切换，支撑双向选择主线。</a:t>
            </a:r>
            <a:endParaRPr sz="1200" b="1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7824" y="2715768"/>
            <a:ext cx="128016" cy="128016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6700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A2B41"/>
                </a:solidFill>
                <a:latin typeface="微软雅黑" panose="020B0503020204020204" charset="-122"/>
              </a:rPr>
              <a:t>题目列表</a:t>
            </a:r>
            <a:endParaRPr sz="112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7824" y="3218688"/>
            <a:ext cx="128016" cy="128016"/>
          </a:xfrm>
          <a:prstGeom prst="ellipse">
            <a:avLst/>
          </a:prstGeom>
          <a:solidFill>
            <a:srgbClr val="16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17296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A2B41"/>
                </a:solidFill>
                <a:latin typeface="微软雅黑" panose="020B0503020204020204" charset="-122"/>
              </a:rPr>
              <a:t>详情联动</a:t>
            </a:r>
            <a:endParaRPr sz="112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7824" y="3721608"/>
            <a:ext cx="128016" cy="128016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67588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A2B41"/>
                </a:solidFill>
                <a:latin typeface="微软雅黑" panose="020B0503020204020204" charset="-122"/>
              </a:rPr>
              <a:t>研究要求</a:t>
            </a:r>
            <a:endParaRPr sz="112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877824" y="4224528"/>
            <a:ext cx="128016" cy="128016"/>
          </a:xfrm>
          <a:prstGeom prst="ellipse">
            <a:avLst/>
          </a:prstGeom>
          <a:solidFill>
            <a:srgbClr val="16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17880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A2B41"/>
                </a:solidFill>
                <a:latin typeface="微软雅黑" panose="020B0503020204020204" charset="-122"/>
              </a:rPr>
              <a:t>技术关键词</a:t>
            </a:r>
            <a:endParaRPr sz="112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02920" y="6419088"/>
            <a:ext cx="11155680" cy="18288"/>
          </a:xfrm>
          <a:prstGeom prst="rect">
            <a:avLst/>
          </a:prstGeom>
          <a:solidFill>
            <a:srgbClr val="D6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0" y="6464808"/>
            <a:ext cx="1371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7085"/>
                </a:solidFill>
                <a:latin typeface="微软雅黑" panose="020B0503020204020204" charset="-122"/>
              </a:rPr>
              <a:t>08</a:t>
            </a:r>
            <a:endParaRPr sz="90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pic>
        <p:nvPicPr>
          <p:cNvPr id="26" name="图片 25" descr="midterm-snapshot-topic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2080" y="1545590"/>
            <a:ext cx="7354570" cy="45612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ounded Rectangle 2"/>
          <p:cNvSpPr/>
          <p:nvPr/>
        </p:nvSpPr>
        <p:spPr>
          <a:xfrm>
            <a:off x="9646920" y="5303520"/>
            <a:ext cx="3566160" cy="2011680"/>
          </a:xfrm>
          <a:prstGeom prst="roundRect">
            <a:avLst/>
          </a:prstGeom>
          <a:solidFill>
            <a:srgbClr val="E0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10896"/>
            <a:ext cx="15621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80ED"/>
                </a:solidFill>
                <a:latin typeface="微软雅黑" panose="020B0503020204020204" charset="-122"/>
              </a:rPr>
              <a:t>中期成果展示</a:t>
            </a:r>
            <a:endParaRPr sz="1800" b="1">
              <a:solidFill>
                <a:srgbClr val="2F80ED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8" y="658368"/>
            <a:ext cx="8869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2B41"/>
                </a:solidFill>
                <a:latin typeface="微软雅黑" panose="020B0503020204020204" charset="-122"/>
              </a:rPr>
              <a:t>Taskboard 任务看板</a:t>
            </a:r>
            <a:endParaRPr sz="2400" b="1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1225296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67085"/>
                </a:solidFill>
                <a:latin typeface="微软雅黑" panose="020B0503020204020204" charset="-122"/>
              </a:rPr>
              <a:t>阶段任务、里程碑推进、过程管理</a:t>
            </a:r>
            <a:endParaRPr sz="125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1137392" y="347472"/>
            <a:ext cx="585216" cy="310896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F80ED"/>
                </a:solidFill>
                <a:latin typeface="微软雅黑" panose="020B0503020204020204" charset="-122"/>
              </a:rPr>
              <a:t>9</a:t>
            </a:r>
            <a:endParaRPr sz="1050" b="1">
              <a:solidFill>
                <a:srgbClr val="2F80ED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" y="1554480"/>
            <a:ext cx="28803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1783080"/>
            <a:ext cx="914400" cy="347472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展示重点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0392" y="2212848"/>
            <a:ext cx="2331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B41"/>
                </a:solidFill>
                <a:latin typeface="微软雅黑" panose="020B0503020204020204" charset="-122"/>
              </a:rPr>
              <a:t>展示毕业设计过程管理与阶段节点跟踪。</a:t>
            </a:r>
            <a:endParaRPr sz="1200" b="1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7824" y="2715768"/>
            <a:ext cx="128016" cy="128016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6700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A2B41"/>
                </a:solidFill>
                <a:latin typeface="微软雅黑" panose="020B0503020204020204" charset="-122"/>
              </a:rPr>
              <a:t>阶段任务</a:t>
            </a:r>
            <a:endParaRPr sz="112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7824" y="3218688"/>
            <a:ext cx="128016" cy="128016"/>
          </a:xfrm>
          <a:prstGeom prst="ellipse">
            <a:avLst/>
          </a:prstGeom>
          <a:solidFill>
            <a:srgbClr val="16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17296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A2B41"/>
                </a:solidFill>
                <a:latin typeface="微软雅黑" panose="020B0503020204020204" charset="-122"/>
              </a:rPr>
              <a:t>里程碑</a:t>
            </a:r>
            <a:endParaRPr sz="112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7824" y="3721608"/>
            <a:ext cx="128016" cy="128016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67588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A2B41"/>
                </a:solidFill>
                <a:latin typeface="微软雅黑" panose="020B0503020204020204" charset="-122"/>
              </a:rPr>
              <a:t>优先级</a:t>
            </a:r>
            <a:endParaRPr sz="112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877824" y="4224528"/>
            <a:ext cx="128016" cy="128016"/>
          </a:xfrm>
          <a:prstGeom prst="ellipse">
            <a:avLst/>
          </a:prstGeom>
          <a:solidFill>
            <a:srgbClr val="16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17880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A2B41"/>
                </a:solidFill>
                <a:latin typeface="微软雅黑" panose="020B0503020204020204" charset="-122"/>
              </a:rPr>
              <a:t>进度跟踪</a:t>
            </a:r>
            <a:endParaRPr sz="112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02920" y="6419088"/>
            <a:ext cx="11155680" cy="18288"/>
          </a:xfrm>
          <a:prstGeom prst="rect">
            <a:avLst/>
          </a:prstGeom>
          <a:solidFill>
            <a:srgbClr val="D6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0" y="6464808"/>
            <a:ext cx="1371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7085"/>
                </a:solidFill>
                <a:latin typeface="微软雅黑" panose="020B0503020204020204" charset="-122"/>
              </a:rPr>
              <a:t>09</a:t>
            </a:r>
            <a:endParaRPr sz="90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pic>
        <p:nvPicPr>
          <p:cNvPr id="26" name="图片 25" descr="midterm-snapshot-taskboar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8590" y="1545590"/>
            <a:ext cx="7298690" cy="45269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ounded Rectangle 2"/>
          <p:cNvSpPr/>
          <p:nvPr/>
        </p:nvSpPr>
        <p:spPr>
          <a:xfrm>
            <a:off x="9646920" y="5303520"/>
            <a:ext cx="3566160" cy="2011680"/>
          </a:xfrm>
          <a:prstGeom prst="roundRect">
            <a:avLst/>
          </a:prstGeom>
          <a:solidFill>
            <a:srgbClr val="E0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658368"/>
            <a:ext cx="8869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2B41"/>
                </a:solidFill>
                <a:latin typeface="微软雅黑" panose="020B0503020204020204" charset="-122"/>
              </a:rPr>
              <a:t>问题与思路：从可演示走向完整闭环</a:t>
            </a:r>
            <a:endParaRPr sz="2400" b="1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1225296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67085"/>
                </a:solidFill>
                <a:latin typeface="微软雅黑" panose="020B0503020204020204" charset="-122"/>
              </a:rPr>
              <a:t>目前重点不是方向错误，而是双向选择闭环、看板闭环和首页统计还需要继续补齐。</a:t>
            </a:r>
            <a:endParaRPr sz="125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1137392" y="347472"/>
            <a:ext cx="585216" cy="310896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F80ED"/>
                </a:solidFill>
                <a:latin typeface="微软雅黑" panose="020B0503020204020204" charset="-122"/>
              </a:rPr>
              <a:t>10</a:t>
            </a:r>
            <a:endParaRPr sz="1050" b="1">
              <a:solidFill>
                <a:srgbClr val="2F80ED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1645920"/>
            <a:ext cx="5440680" cy="4480560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1847088"/>
            <a:ext cx="914400" cy="34747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当前问题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914400" y="2331720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276856"/>
            <a:ext cx="4480560" cy="445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7232B"/>
                </a:solidFill>
                <a:latin typeface="微软雅黑" panose="020B0503020204020204" charset="-122"/>
                <a:sym typeface="+mn-ea"/>
              </a:rPr>
              <a:t>智能选题推荐目前需要进一步完善排序规则、</a:t>
            </a:r>
            <a:endParaRPr sz="1150">
              <a:solidFill>
                <a:srgbClr val="17232B"/>
              </a:solidFill>
              <a:latin typeface="微软雅黑" panose="020B0503020204020204" charset="-122"/>
              <a:sym typeface="+mn-ea"/>
            </a:endParaRPr>
          </a:p>
          <a:p>
            <a:pPr algn="l"/>
            <a:r>
              <a:rPr sz="1150">
                <a:solidFill>
                  <a:srgbClr val="17232B"/>
                </a:solidFill>
                <a:latin typeface="微软雅黑" panose="020B0503020204020204" charset="-122"/>
                <a:sym typeface="+mn-ea"/>
              </a:rPr>
              <a:t>推荐理由和学生画像输入</a:t>
            </a:r>
            <a:r>
              <a:rPr sz="1150" b="0">
                <a:solidFill>
                  <a:srgbClr val="1A2B41"/>
                </a:solidFill>
                <a:latin typeface="微软雅黑" panose="020B0503020204020204" charset="-122"/>
              </a:rPr>
              <a:t>。</a:t>
            </a:r>
            <a:endParaRPr sz="115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914400" y="300837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953512"/>
            <a:ext cx="4480560" cy="445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7232B"/>
                </a:solidFill>
                <a:latin typeface="微软雅黑" panose="020B0503020204020204" charset="-122"/>
                <a:sym typeface="+mn-ea"/>
              </a:rPr>
              <a:t>Taskboard 和 Dashboard 仍有静态/演示数据，</a:t>
            </a:r>
            <a:endParaRPr sz="1150">
              <a:solidFill>
                <a:srgbClr val="17232B"/>
              </a:solidFill>
              <a:latin typeface="微软雅黑" panose="020B0503020204020204" charset="-122"/>
              <a:sym typeface="+mn-ea"/>
            </a:endParaRPr>
          </a:p>
          <a:p>
            <a:pPr algn="l"/>
            <a:r>
              <a:rPr sz="1150">
                <a:solidFill>
                  <a:srgbClr val="17232B"/>
                </a:solidFill>
                <a:latin typeface="微软雅黑" panose="020B0503020204020204" charset="-122"/>
                <a:sym typeface="+mn-ea"/>
              </a:rPr>
              <a:t>需要接入真实统计与任务接口。</a:t>
            </a:r>
            <a:endParaRPr sz="115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914400" y="3685032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630168"/>
            <a:ext cx="4480560" cy="445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7232B"/>
                </a:solidFill>
                <a:latin typeface="微软雅黑" panose="020B0503020204020204" charset="-122"/>
                <a:sym typeface="+mn-ea"/>
              </a:rPr>
              <a:t>Topics 已完成列表与详情展示，</a:t>
            </a:r>
            <a:endParaRPr sz="1150">
              <a:solidFill>
                <a:srgbClr val="17232B"/>
              </a:solidFill>
              <a:latin typeface="微软雅黑" panose="020B0503020204020204" charset="-122"/>
              <a:sym typeface="+mn-ea"/>
            </a:endParaRPr>
          </a:p>
          <a:p>
            <a:pPr algn="l"/>
            <a:r>
              <a:rPr sz="1150">
                <a:solidFill>
                  <a:srgbClr val="17232B"/>
                </a:solidFill>
                <a:latin typeface="微软雅黑" panose="020B0503020204020204" charset="-122"/>
                <a:sym typeface="+mn-ea"/>
              </a:rPr>
              <a:t>志愿提交、我的志愿状态和最终指派仍需继续联调</a:t>
            </a:r>
            <a:r>
              <a:rPr sz="1150" b="0">
                <a:solidFill>
                  <a:srgbClr val="1A2B41"/>
                </a:solidFill>
                <a:latin typeface="微软雅黑" panose="020B0503020204020204" charset="-122"/>
              </a:rPr>
              <a:t>。</a:t>
            </a:r>
            <a:endParaRPr sz="115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14400" y="436168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306824"/>
            <a:ext cx="4480560" cy="267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7232B"/>
                </a:solidFill>
                <a:latin typeface="微软雅黑" panose="020B0503020204020204" charset="-122"/>
                <a:sym typeface="+mn-ea"/>
              </a:rPr>
              <a:t>AI 任务需要继续完善错误边界、空状态、超时与失败后的用户提示。</a:t>
            </a:r>
            <a:endParaRPr sz="115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327648" y="1645920"/>
            <a:ext cx="5230368" cy="448056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65392" y="1847088"/>
            <a:ext cx="914400" cy="347472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解决思路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6583680" y="2331720"/>
            <a:ext cx="146304" cy="146304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2276856"/>
            <a:ext cx="4480560" cy="445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150" b="0">
                <a:solidFill>
                  <a:srgbClr val="1A2B41"/>
                </a:solidFill>
                <a:latin typeface="微软雅黑" panose="020B0503020204020204" charset="-122"/>
              </a:rPr>
              <a:t>补齐排序策略，结合热度、匹配度和可行性加权；完善推荐理由文案；补充学生画像采集与结构化输入，提升推荐准确性。</a:t>
            </a:r>
            <a:endParaRPr lang="zh-CN" altLang="en-US" sz="115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583680" y="3008376"/>
            <a:ext cx="146304" cy="146304"/>
          </a:xfrm>
          <a:prstGeom prst="ellipse">
            <a:avLst/>
          </a:prstGeom>
          <a:solidFill>
            <a:srgbClr val="16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2953512"/>
            <a:ext cx="4480560" cy="445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150" b="0">
                <a:solidFill>
                  <a:srgbClr val="1A2B41"/>
                </a:solidFill>
                <a:latin typeface="微软雅黑" panose="020B0503020204020204" charset="-122"/>
              </a:rPr>
              <a:t>清理静态演示数据，接入真实任务与统计接口；统一口径与刷新机制，确保页面数据可实时反映业务状态。</a:t>
            </a:r>
            <a:endParaRPr lang="zh-CN" altLang="en-US" sz="115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6583680" y="3685032"/>
            <a:ext cx="146304" cy="146304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3630168"/>
            <a:ext cx="4480560" cy="445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150" b="0">
                <a:solidFill>
                  <a:srgbClr val="1A2B41"/>
                </a:solidFill>
                <a:latin typeface="微软雅黑" panose="020B0503020204020204" charset="-122"/>
              </a:rPr>
              <a:t>在已完成列表与详情的基础上，继续打通志愿提交、我的志愿状态查询和最终指派流程，完成端到端闭环验证。</a:t>
            </a:r>
            <a:endParaRPr lang="zh-CN" altLang="en-US" sz="115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6583680" y="4361688"/>
            <a:ext cx="146304" cy="146304"/>
          </a:xfrm>
          <a:prstGeom prst="ellipse">
            <a:avLst/>
          </a:prstGeom>
          <a:solidFill>
            <a:srgbClr val="16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4306824"/>
            <a:ext cx="4480560" cy="445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150" b="0">
                <a:solidFill>
                  <a:srgbClr val="1A2B41"/>
                </a:solidFill>
                <a:latin typeface="微软雅黑" panose="020B0503020204020204" charset="-122"/>
              </a:rPr>
              <a:t>补全错误边界、空状态、超时和失败提示；增加重试与状态反馈机制，降低用户使用过程中的不确定性。</a:t>
            </a:r>
            <a:endParaRPr lang="zh-CN" altLang="en-US" sz="115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02920" y="6419088"/>
            <a:ext cx="11155680" cy="18288"/>
          </a:xfrm>
          <a:prstGeom prst="rect">
            <a:avLst/>
          </a:prstGeom>
          <a:solidFill>
            <a:srgbClr val="D6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32720" y="6464808"/>
            <a:ext cx="1371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7085"/>
                </a:solidFill>
                <a:latin typeface="微软雅黑" panose="020B0503020204020204" charset="-122"/>
              </a:rPr>
              <a:t>10</a:t>
            </a:r>
            <a:endParaRPr sz="90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ounded Rectangle 2"/>
          <p:cNvSpPr/>
          <p:nvPr/>
        </p:nvSpPr>
        <p:spPr>
          <a:xfrm>
            <a:off x="9646920" y="5303520"/>
            <a:ext cx="3566160" cy="2011680"/>
          </a:xfrm>
          <a:prstGeom prst="roundRect">
            <a:avLst/>
          </a:prstGeom>
          <a:solidFill>
            <a:srgbClr val="E0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658368"/>
            <a:ext cx="8869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2B41"/>
                </a:solidFill>
                <a:latin typeface="微软雅黑" panose="020B0503020204020204" charset="-122"/>
              </a:rPr>
              <a:t>下一步计划：完善闭环与答辩演示</a:t>
            </a:r>
            <a:endParaRPr sz="2400" b="1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1225296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67085"/>
                </a:solidFill>
                <a:latin typeface="微软雅黑" panose="020B0503020204020204" charset="-122"/>
              </a:rPr>
              <a:t>后续工作将围绕任务书主线继续推进，并把现有可演示页面补充为完整闭环。</a:t>
            </a:r>
            <a:endParaRPr sz="125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1137392" y="347472"/>
            <a:ext cx="585216" cy="310896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F80ED"/>
                </a:solidFill>
                <a:latin typeface="微软雅黑" panose="020B0503020204020204" charset="-122"/>
              </a:rPr>
              <a:t>11</a:t>
            </a:r>
            <a:endParaRPr sz="1050" b="1">
              <a:solidFill>
                <a:srgbClr val="2F80ED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3232" y="1783080"/>
            <a:ext cx="5230368" cy="157276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7824" y="1965960"/>
            <a:ext cx="1005840" cy="310896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20" b="1">
                <a:solidFill>
                  <a:srgbClr val="FFFFFF"/>
                </a:solidFill>
                <a:latin typeface="微软雅黑" panose="020B0503020204020204" charset="-122"/>
              </a:rPr>
              <a:t>第一阶段</a:t>
            </a:r>
            <a:endParaRPr sz="10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" y="2377440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B41"/>
                </a:solidFill>
                <a:latin typeface="微软雅黑" panose="020B0503020204020204" charset="-122"/>
              </a:rPr>
              <a:t>完善 Taskboard 真实数据和任务状态联动</a:t>
            </a:r>
            <a:endParaRPr sz="1300" b="1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54496" y="1783080"/>
            <a:ext cx="5230368" cy="157276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19088" y="1965960"/>
            <a:ext cx="1005840" cy="310896"/>
          </a:xfrm>
          <a:prstGeom prst="roundRect">
            <a:avLst/>
          </a:prstGeom>
          <a:solidFill>
            <a:srgbClr val="16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20" b="1">
                <a:solidFill>
                  <a:srgbClr val="FFFFFF"/>
                </a:solidFill>
                <a:latin typeface="微软雅黑" panose="020B0503020204020204" charset="-122"/>
              </a:rPr>
              <a:t>第二阶段</a:t>
            </a:r>
            <a:endParaRPr sz="10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19088" y="2377440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B41"/>
                </a:solidFill>
                <a:latin typeface="微软雅黑" panose="020B0503020204020204" charset="-122"/>
              </a:rPr>
              <a:t>补齐 Topics 志愿提交与我的志愿状态</a:t>
            </a:r>
            <a:endParaRPr sz="1300" b="1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13232" y="3730752"/>
            <a:ext cx="5230368" cy="157276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7824" y="3913632"/>
            <a:ext cx="1005840" cy="31089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20" b="1">
                <a:solidFill>
                  <a:srgbClr val="FFFFFF"/>
                </a:solidFill>
                <a:latin typeface="微软雅黑" panose="020B0503020204020204" charset="-122"/>
              </a:rPr>
              <a:t>第三阶段</a:t>
            </a:r>
            <a:endParaRPr sz="10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7824" y="4325112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B41"/>
                </a:solidFill>
                <a:latin typeface="微软雅黑" panose="020B0503020204020204" charset="-122"/>
              </a:rPr>
              <a:t>接入 Dashboard 统计聚合与近期工作展示</a:t>
            </a:r>
            <a:endParaRPr sz="1300" b="1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54496" y="3730752"/>
            <a:ext cx="5230368" cy="1572768"/>
          </a:xfrm>
          <a:prstGeom prst="roundRect">
            <a:avLst/>
          </a:prstGeom>
          <a:solidFill>
            <a:srgbClr val="FFF4D3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19088" y="3913632"/>
            <a:ext cx="1005840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20" b="1">
                <a:solidFill>
                  <a:srgbClr val="FFFFFF"/>
                </a:solidFill>
                <a:latin typeface="微软雅黑" panose="020B0503020204020204" charset="-122"/>
              </a:rPr>
              <a:t>第四阶段</a:t>
            </a:r>
            <a:endParaRPr sz="10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19088" y="4325112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B41"/>
                </a:solidFill>
                <a:latin typeface="微软雅黑" panose="020B0503020204020204" charset="-122"/>
              </a:rPr>
              <a:t>整理测试、论文、演示数据和答辩材料</a:t>
            </a:r>
            <a:endParaRPr sz="1300" b="1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2920" y="6419088"/>
            <a:ext cx="11155680" cy="18288"/>
          </a:xfrm>
          <a:prstGeom prst="rect">
            <a:avLst/>
          </a:prstGeom>
          <a:solidFill>
            <a:srgbClr val="D6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0" y="6464808"/>
            <a:ext cx="1371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7085"/>
                </a:solidFill>
                <a:latin typeface="微软雅黑" panose="020B0503020204020204" charset="-122"/>
              </a:rPr>
              <a:t>11</a:t>
            </a:r>
            <a:endParaRPr sz="90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ounded Rectangle 2"/>
          <p:cNvSpPr/>
          <p:nvPr/>
        </p:nvSpPr>
        <p:spPr>
          <a:xfrm>
            <a:off x="9646920" y="5303520"/>
            <a:ext cx="3566160" cy="2011680"/>
          </a:xfrm>
          <a:prstGeom prst="roundRect">
            <a:avLst/>
          </a:prstGeom>
          <a:solidFill>
            <a:srgbClr val="E0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10896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80ED"/>
                </a:solidFill>
                <a:latin typeface="微软雅黑" panose="020B0503020204020204" charset="-122"/>
              </a:rPr>
              <a:t>阶段总结</a:t>
            </a:r>
            <a:endParaRPr sz="1800" b="1">
              <a:solidFill>
                <a:srgbClr val="2F80ED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8" y="658368"/>
            <a:ext cx="8869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2B41"/>
                </a:solidFill>
                <a:latin typeface="微软雅黑" panose="020B0503020204020204" charset="-122"/>
              </a:rPr>
              <a:t>中期阶段总结：系统已具备答辩展示基础</a:t>
            </a:r>
            <a:endParaRPr sz="2400" b="1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1225296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67085"/>
                </a:solidFill>
                <a:latin typeface="微软雅黑" panose="020B0503020204020204" charset="-122"/>
              </a:rPr>
              <a:t>当前已经完成从普通流程系统到 AI 学术助手工作台的方案转化。</a:t>
            </a:r>
            <a:endParaRPr sz="125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1137392" y="347472"/>
            <a:ext cx="585216" cy="310896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F80ED"/>
                </a:solidFill>
                <a:latin typeface="微软雅黑" panose="020B0503020204020204" charset="-122"/>
              </a:rPr>
              <a:t>12</a:t>
            </a:r>
            <a:endParaRPr sz="1050" b="1">
              <a:solidFill>
                <a:srgbClr val="2F80ED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4672" y="1783080"/>
            <a:ext cx="105613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78992" y="2011680"/>
            <a:ext cx="914400" cy="347472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中期结论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97280" y="2514600"/>
            <a:ext cx="146304" cy="146304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2459736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1"/>
                </a:solidFill>
                <a:latin typeface="微软雅黑" panose="020B0503020204020204" charset="-122"/>
              </a:rPr>
              <a:t>后端已形成接口契约、异步任务和分层架构主线。</a:t>
            </a:r>
            <a:endParaRPr sz="120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097280" y="3227832"/>
            <a:ext cx="146304" cy="146304"/>
          </a:xfrm>
          <a:prstGeom prst="ellipse">
            <a:avLst/>
          </a:prstGeom>
          <a:solidFill>
            <a:srgbClr val="16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3172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1"/>
                </a:solidFill>
                <a:latin typeface="微软雅黑" panose="020B0503020204020204" charset="-122"/>
              </a:rPr>
              <a:t>前端已完成独立工程和多页面真实联调。</a:t>
            </a:r>
            <a:endParaRPr sz="120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097280" y="3941064"/>
            <a:ext cx="146304" cy="146304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388620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1"/>
                </a:solidFill>
                <a:latin typeface="微软雅黑" panose="020B0503020204020204" charset="-122"/>
              </a:rPr>
              <a:t>中期成果已经能够展示登录、聊天、文档处理、选题浏览等核心链路。</a:t>
            </a:r>
            <a:endParaRPr sz="120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1097280" y="4654296"/>
            <a:ext cx="146304" cy="146304"/>
          </a:xfrm>
          <a:prstGeom prst="ellipse">
            <a:avLst/>
          </a:prstGeom>
          <a:solidFill>
            <a:srgbClr val="16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45994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1"/>
                </a:solidFill>
                <a:latin typeface="微软雅黑" panose="020B0503020204020204" charset="-122"/>
              </a:rPr>
              <a:t>下一步重点是补齐任务看板、选题志愿和首页统计，完成毕业设计闭环。</a:t>
            </a:r>
            <a:endParaRPr sz="1200" b="0">
              <a:solidFill>
                <a:srgbClr val="1A2B41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78992" y="555955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F80ED"/>
                </a:solidFill>
                <a:latin typeface="微软雅黑" panose="020B0503020204020204" charset="-122"/>
              </a:rPr>
              <a:t>感谢各位老师。</a:t>
            </a:r>
            <a:endParaRPr sz="1600" b="1">
              <a:solidFill>
                <a:srgbClr val="2F80ED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2920" y="6419088"/>
            <a:ext cx="11155680" cy="18288"/>
          </a:xfrm>
          <a:prstGeom prst="rect">
            <a:avLst/>
          </a:prstGeom>
          <a:solidFill>
            <a:srgbClr val="D6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464808"/>
            <a:ext cx="7772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7085"/>
                </a:solidFill>
                <a:latin typeface="微软雅黑" panose="020B0503020204020204" charset="-122"/>
              </a:rPr>
              <a:t>中期答辩 · 第十周</a:t>
            </a:r>
            <a:endParaRPr sz="90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332720" y="6464808"/>
            <a:ext cx="1371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7085"/>
                </a:solidFill>
                <a:latin typeface="微软雅黑" panose="020B0503020204020204" charset="-122"/>
              </a:rPr>
              <a:t>12</a:t>
            </a:r>
            <a:endParaRPr sz="90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1984</Words>
  <Application>WPS 演示</Application>
  <PresentationFormat>On-screen Show (4:3)</PresentationFormat>
  <Paragraphs>329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刘佳浩</cp:lastModifiedBy>
  <cp:revision>2</cp:revision>
  <dcterms:created xsi:type="dcterms:W3CDTF">2013-01-27T09:14:00Z</dcterms:created>
  <dcterms:modified xsi:type="dcterms:W3CDTF">2026-05-06T13:38:04Z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3D39859897D249E5AE3EC6B11E35DD79_12</vt:lpwstr>
  </property>
</Properties>
</file>